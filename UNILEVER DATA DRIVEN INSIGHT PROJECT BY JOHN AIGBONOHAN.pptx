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6" r:id="rId3"/>
    <p:sldId id="259" r:id="rId4"/>
    <p:sldId id="257" r:id="rId5"/>
    <p:sldId id="260" r:id="rId6"/>
    <p:sldId id="261" r:id="rId7"/>
    <p:sldId id="276"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D5AA"/>
    <a:srgbClr val="FEE6DC"/>
    <a:srgbClr val="FEE4CE"/>
    <a:srgbClr val="FCC699"/>
    <a:srgbClr val="F0999B"/>
    <a:srgbClr val="E59893"/>
    <a:srgbClr val="F0999A"/>
    <a:srgbClr val="DEBEA9"/>
    <a:srgbClr val="FAD4D1"/>
    <a:srgbClr val="FDC5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FBF47E-A1CD-42B4-98DB-8B60AEC68601}" v="295" dt="2024-02-16T20:14:19.8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5" d="100"/>
          <a:sy n="55" d="100"/>
        </p:scale>
        <p:origin x="1096"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5C984-3E23-4FA6-8ACC-4EB5D7F31A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545CF6-E5E1-4826-9190-69EC3FB839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E6F753-5C36-40ED-886E-F1F3D4E16587}"/>
              </a:ext>
            </a:extLst>
          </p:cNvPr>
          <p:cNvSpPr>
            <a:spLocks noGrp="1"/>
          </p:cNvSpPr>
          <p:nvPr>
            <p:ph type="dt" sz="half" idx="10"/>
          </p:nvPr>
        </p:nvSpPr>
        <p:spPr/>
        <p:txBody>
          <a:bodyPr/>
          <a:lstStyle/>
          <a:p>
            <a:fld id="{E67A72E2-9081-4BCE-BAC9-7033FCDA3A7B}" type="datetimeFigureOut">
              <a:rPr lang="en-US" smtClean="0"/>
              <a:t>5/3/2025</a:t>
            </a:fld>
            <a:endParaRPr lang="en-US"/>
          </a:p>
        </p:txBody>
      </p:sp>
      <p:sp>
        <p:nvSpPr>
          <p:cNvPr id="5" name="Footer Placeholder 4">
            <a:extLst>
              <a:ext uri="{FF2B5EF4-FFF2-40B4-BE49-F238E27FC236}">
                <a16:creationId xmlns:a16="http://schemas.microsoft.com/office/drawing/2014/main" id="{7EDD33A4-E8BF-4BB1-B1F3-324A4D6061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CCE770-EFC1-4F2D-8A9B-65C01D694BE7}"/>
              </a:ext>
            </a:extLst>
          </p:cNvPr>
          <p:cNvSpPr>
            <a:spLocks noGrp="1"/>
          </p:cNvSpPr>
          <p:nvPr>
            <p:ph type="sldNum" sz="quarter" idx="12"/>
          </p:nvPr>
        </p:nvSpPr>
        <p:spPr/>
        <p:txBody>
          <a:bodyPr/>
          <a:lstStyle/>
          <a:p>
            <a:fld id="{5F27A937-02B0-43D4-9426-F281F03C75B5}" type="slidenum">
              <a:rPr lang="en-US" smtClean="0"/>
              <a:t>‹#›</a:t>
            </a:fld>
            <a:endParaRPr lang="en-US"/>
          </a:p>
        </p:txBody>
      </p:sp>
    </p:spTree>
    <p:extLst>
      <p:ext uri="{BB962C8B-B14F-4D97-AF65-F5344CB8AC3E}">
        <p14:creationId xmlns:p14="http://schemas.microsoft.com/office/powerpoint/2010/main" val="1800457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F0452-10D4-4F40-B65C-B1DC1E76AB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AF9392-3098-49E7-B585-DF494EDEC9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EF8E0A-A3F3-4F58-AE78-B65A1436BFC5}"/>
              </a:ext>
            </a:extLst>
          </p:cNvPr>
          <p:cNvSpPr>
            <a:spLocks noGrp="1"/>
          </p:cNvSpPr>
          <p:nvPr>
            <p:ph type="dt" sz="half" idx="10"/>
          </p:nvPr>
        </p:nvSpPr>
        <p:spPr/>
        <p:txBody>
          <a:bodyPr/>
          <a:lstStyle/>
          <a:p>
            <a:fld id="{E67A72E2-9081-4BCE-BAC9-7033FCDA3A7B}" type="datetimeFigureOut">
              <a:rPr lang="en-US" smtClean="0"/>
              <a:t>5/3/2025</a:t>
            </a:fld>
            <a:endParaRPr lang="en-US"/>
          </a:p>
        </p:txBody>
      </p:sp>
      <p:sp>
        <p:nvSpPr>
          <p:cNvPr id="5" name="Footer Placeholder 4">
            <a:extLst>
              <a:ext uri="{FF2B5EF4-FFF2-40B4-BE49-F238E27FC236}">
                <a16:creationId xmlns:a16="http://schemas.microsoft.com/office/drawing/2014/main" id="{0BBCA63E-A526-494C-A35E-AB58027014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7419D0-EDEE-471B-9546-E0542A73A024}"/>
              </a:ext>
            </a:extLst>
          </p:cNvPr>
          <p:cNvSpPr>
            <a:spLocks noGrp="1"/>
          </p:cNvSpPr>
          <p:nvPr>
            <p:ph type="sldNum" sz="quarter" idx="12"/>
          </p:nvPr>
        </p:nvSpPr>
        <p:spPr/>
        <p:txBody>
          <a:bodyPr/>
          <a:lstStyle/>
          <a:p>
            <a:fld id="{5F27A937-02B0-43D4-9426-F281F03C75B5}" type="slidenum">
              <a:rPr lang="en-US" smtClean="0"/>
              <a:t>‹#›</a:t>
            </a:fld>
            <a:endParaRPr lang="en-US"/>
          </a:p>
        </p:txBody>
      </p:sp>
    </p:spTree>
    <p:extLst>
      <p:ext uri="{BB962C8B-B14F-4D97-AF65-F5344CB8AC3E}">
        <p14:creationId xmlns:p14="http://schemas.microsoft.com/office/powerpoint/2010/main" val="1775445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832DF-124A-406D-A442-F50F753177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A5E04D-FBB5-4D5A-9341-754A90607E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020958-BF9A-4785-98B7-117070561D88}"/>
              </a:ext>
            </a:extLst>
          </p:cNvPr>
          <p:cNvSpPr>
            <a:spLocks noGrp="1"/>
          </p:cNvSpPr>
          <p:nvPr>
            <p:ph type="dt" sz="half" idx="10"/>
          </p:nvPr>
        </p:nvSpPr>
        <p:spPr/>
        <p:txBody>
          <a:bodyPr/>
          <a:lstStyle/>
          <a:p>
            <a:fld id="{E67A72E2-9081-4BCE-BAC9-7033FCDA3A7B}" type="datetimeFigureOut">
              <a:rPr lang="en-US" smtClean="0"/>
              <a:t>5/3/2025</a:t>
            </a:fld>
            <a:endParaRPr lang="en-US"/>
          </a:p>
        </p:txBody>
      </p:sp>
      <p:sp>
        <p:nvSpPr>
          <p:cNvPr id="5" name="Footer Placeholder 4">
            <a:extLst>
              <a:ext uri="{FF2B5EF4-FFF2-40B4-BE49-F238E27FC236}">
                <a16:creationId xmlns:a16="http://schemas.microsoft.com/office/drawing/2014/main" id="{78155592-A400-4200-865F-FB7AC6FAA1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21A529-5AB9-4E85-967C-60FF33928640}"/>
              </a:ext>
            </a:extLst>
          </p:cNvPr>
          <p:cNvSpPr>
            <a:spLocks noGrp="1"/>
          </p:cNvSpPr>
          <p:nvPr>
            <p:ph type="sldNum" sz="quarter" idx="12"/>
          </p:nvPr>
        </p:nvSpPr>
        <p:spPr/>
        <p:txBody>
          <a:bodyPr/>
          <a:lstStyle/>
          <a:p>
            <a:fld id="{5F27A937-02B0-43D4-9426-F281F03C75B5}" type="slidenum">
              <a:rPr lang="en-US" smtClean="0"/>
              <a:t>‹#›</a:t>
            </a:fld>
            <a:endParaRPr lang="en-US"/>
          </a:p>
        </p:txBody>
      </p:sp>
    </p:spTree>
    <p:extLst>
      <p:ext uri="{BB962C8B-B14F-4D97-AF65-F5344CB8AC3E}">
        <p14:creationId xmlns:p14="http://schemas.microsoft.com/office/powerpoint/2010/main" val="2450617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C7160-7977-46BB-85B3-40A797D1D3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B66D23-DDE9-41D9-9A04-F02F2E219E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ADC017-5D40-4C23-8B9B-B90BC40FFF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56ABBF-E339-4F1E-9096-35A42254B4E9}"/>
              </a:ext>
            </a:extLst>
          </p:cNvPr>
          <p:cNvSpPr>
            <a:spLocks noGrp="1"/>
          </p:cNvSpPr>
          <p:nvPr>
            <p:ph type="dt" sz="half" idx="10"/>
          </p:nvPr>
        </p:nvSpPr>
        <p:spPr/>
        <p:txBody>
          <a:bodyPr/>
          <a:lstStyle/>
          <a:p>
            <a:fld id="{E67A72E2-9081-4BCE-BAC9-7033FCDA3A7B}" type="datetimeFigureOut">
              <a:rPr lang="en-US" smtClean="0"/>
              <a:t>5/3/2025</a:t>
            </a:fld>
            <a:endParaRPr lang="en-US"/>
          </a:p>
        </p:txBody>
      </p:sp>
      <p:sp>
        <p:nvSpPr>
          <p:cNvPr id="6" name="Footer Placeholder 5">
            <a:extLst>
              <a:ext uri="{FF2B5EF4-FFF2-40B4-BE49-F238E27FC236}">
                <a16:creationId xmlns:a16="http://schemas.microsoft.com/office/drawing/2014/main" id="{CA5711CB-CB6B-43DF-AF18-7520FC450F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3298D5-9364-49EF-B66F-437D50D38F22}"/>
              </a:ext>
            </a:extLst>
          </p:cNvPr>
          <p:cNvSpPr>
            <a:spLocks noGrp="1"/>
          </p:cNvSpPr>
          <p:nvPr>
            <p:ph type="sldNum" sz="quarter" idx="12"/>
          </p:nvPr>
        </p:nvSpPr>
        <p:spPr/>
        <p:txBody>
          <a:bodyPr/>
          <a:lstStyle/>
          <a:p>
            <a:fld id="{5F27A937-02B0-43D4-9426-F281F03C75B5}" type="slidenum">
              <a:rPr lang="en-US" smtClean="0"/>
              <a:t>‹#›</a:t>
            </a:fld>
            <a:endParaRPr lang="en-US"/>
          </a:p>
        </p:txBody>
      </p:sp>
    </p:spTree>
    <p:extLst>
      <p:ext uri="{BB962C8B-B14F-4D97-AF65-F5344CB8AC3E}">
        <p14:creationId xmlns:p14="http://schemas.microsoft.com/office/powerpoint/2010/main" val="974291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ADADD-6619-49C7-ADAC-9BE1589418D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6E718F-7DFB-42AD-9751-0B97413F32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C19F88-6E47-40D2-8D54-9A8BE9D337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7172F1-058A-4B7A-A0CC-F1BA1DB5C7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6CB976-224C-4BAD-B895-87052DA469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F42A30-18B8-4F5D-97B7-21F36604B967}"/>
              </a:ext>
            </a:extLst>
          </p:cNvPr>
          <p:cNvSpPr>
            <a:spLocks noGrp="1"/>
          </p:cNvSpPr>
          <p:nvPr>
            <p:ph type="dt" sz="half" idx="10"/>
          </p:nvPr>
        </p:nvSpPr>
        <p:spPr/>
        <p:txBody>
          <a:bodyPr/>
          <a:lstStyle/>
          <a:p>
            <a:fld id="{E67A72E2-9081-4BCE-BAC9-7033FCDA3A7B}" type="datetimeFigureOut">
              <a:rPr lang="en-US" smtClean="0"/>
              <a:t>5/3/2025</a:t>
            </a:fld>
            <a:endParaRPr lang="en-US"/>
          </a:p>
        </p:txBody>
      </p:sp>
      <p:sp>
        <p:nvSpPr>
          <p:cNvPr id="8" name="Footer Placeholder 7">
            <a:extLst>
              <a:ext uri="{FF2B5EF4-FFF2-40B4-BE49-F238E27FC236}">
                <a16:creationId xmlns:a16="http://schemas.microsoft.com/office/drawing/2014/main" id="{62C5C029-2DF8-410E-A3DF-C78DB288A5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68EAB3-0325-4C47-8323-D9DDF98E3A0A}"/>
              </a:ext>
            </a:extLst>
          </p:cNvPr>
          <p:cNvSpPr>
            <a:spLocks noGrp="1"/>
          </p:cNvSpPr>
          <p:nvPr>
            <p:ph type="sldNum" sz="quarter" idx="12"/>
          </p:nvPr>
        </p:nvSpPr>
        <p:spPr/>
        <p:txBody>
          <a:bodyPr/>
          <a:lstStyle/>
          <a:p>
            <a:fld id="{5F27A937-02B0-43D4-9426-F281F03C75B5}" type="slidenum">
              <a:rPr lang="en-US" smtClean="0"/>
              <a:t>‹#›</a:t>
            </a:fld>
            <a:endParaRPr lang="en-US"/>
          </a:p>
        </p:txBody>
      </p:sp>
    </p:spTree>
    <p:extLst>
      <p:ext uri="{BB962C8B-B14F-4D97-AF65-F5344CB8AC3E}">
        <p14:creationId xmlns:p14="http://schemas.microsoft.com/office/powerpoint/2010/main" val="3574354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B2F7D-5E8F-4637-AD89-9E9860BC29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1C17CC-AAAA-448D-9B92-3942E47DDABA}"/>
              </a:ext>
            </a:extLst>
          </p:cNvPr>
          <p:cNvSpPr>
            <a:spLocks noGrp="1"/>
          </p:cNvSpPr>
          <p:nvPr>
            <p:ph type="dt" sz="half" idx="10"/>
          </p:nvPr>
        </p:nvSpPr>
        <p:spPr/>
        <p:txBody>
          <a:bodyPr/>
          <a:lstStyle/>
          <a:p>
            <a:fld id="{E67A72E2-9081-4BCE-BAC9-7033FCDA3A7B}" type="datetimeFigureOut">
              <a:rPr lang="en-US" smtClean="0"/>
              <a:t>5/3/2025</a:t>
            </a:fld>
            <a:endParaRPr lang="en-US"/>
          </a:p>
        </p:txBody>
      </p:sp>
      <p:sp>
        <p:nvSpPr>
          <p:cNvPr id="4" name="Footer Placeholder 3">
            <a:extLst>
              <a:ext uri="{FF2B5EF4-FFF2-40B4-BE49-F238E27FC236}">
                <a16:creationId xmlns:a16="http://schemas.microsoft.com/office/drawing/2014/main" id="{972DBA59-E1B7-4F57-B27B-60787CFD5E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06A5DF7-64AB-457F-A713-D49A041F0BB5}"/>
              </a:ext>
            </a:extLst>
          </p:cNvPr>
          <p:cNvSpPr>
            <a:spLocks noGrp="1"/>
          </p:cNvSpPr>
          <p:nvPr>
            <p:ph type="sldNum" sz="quarter" idx="12"/>
          </p:nvPr>
        </p:nvSpPr>
        <p:spPr/>
        <p:txBody>
          <a:bodyPr/>
          <a:lstStyle/>
          <a:p>
            <a:fld id="{5F27A937-02B0-43D4-9426-F281F03C75B5}" type="slidenum">
              <a:rPr lang="en-US" smtClean="0"/>
              <a:t>‹#›</a:t>
            </a:fld>
            <a:endParaRPr lang="en-US"/>
          </a:p>
        </p:txBody>
      </p:sp>
    </p:spTree>
    <p:extLst>
      <p:ext uri="{BB962C8B-B14F-4D97-AF65-F5344CB8AC3E}">
        <p14:creationId xmlns:p14="http://schemas.microsoft.com/office/powerpoint/2010/main" val="99646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21D2EB-39DA-4F11-9DCF-F5AC772B9053}"/>
              </a:ext>
            </a:extLst>
          </p:cNvPr>
          <p:cNvSpPr>
            <a:spLocks noGrp="1"/>
          </p:cNvSpPr>
          <p:nvPr>
            <p:ph type="dt" sz="half" idx="10"/>
          </p:nvPr>
        </p:nvSpPr>
        <p:spPr/>
        <p:txBody>
          <a:bodyPr/>
          <a:lstStyle/>
          <a:p>
            <a:fld id="{E67A72E2-9081-4BCE-BAC9-7033FCDA3A7B}" type="datetimeFigureOut">
              <a:rPr lang="en-US" smtClean="0"/>
              <a:t>5/3/2025</a:t>
            </a:fld>
            <a:endParaRPr lang="en-US"/>
          </a:p>
        </p:txBody>
      </p:sp>
      <p:sp>
        <p:nvSpPr>
          <p:cNvPr id="3" name="Footer Placeholder 2">
            <a:extLst>
              <a:ext uri="{FF2B5EF4-FFF2-40B4-BE49-F238E27FC236}">
                <a16:creationId xmlns:a16="http://schemas.microsoft.com/office/drawing/2014/main" id="{0FC1819D-9EA9-40E8-A498-2A6DEADC9C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D5DEF0-8409-4DF2-8730-261CF76F25DA}"/>
              </a:ext>
            </a:extLst>
          </p:cNvPr>
          <p:cNvSpPr>
            <a:spLocks noGrp="1"/>
          </p:cNvSpPr>
          <p:nvPr>
            <p:ph type="sldNum" sz="quarter" idx="12"/>
          </p:nvPr>
        </p:nvSpPr>
        <p:spPr/>
        <p:txBody>
          <a:bodyPr/>
          <a:lstStyle/>
          <a:p>
            <a:fld id="{5F27A937-02B0-43D4-9426-F281F03C75B5}" type="slidenum">
              <a:rPr lang="en-US" smtClean="0"/>
              <a:t>‹#›</a:t>
            </a:fld>
            <a:endParaRPr lang="en-US"/>
          </a:p>
        </p:txBody>
      </p:sp>
    </p:spTree>
    <p:extLst>
      <p:ext uri="{BB962C8B-B14F-4D97-AF65-F5344CB8AC3E}">
        <p14:creationId xmlns:p14="http://schemas.microsoft.com/office/powerpoint/2010/main" val="24873817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6DCED-AB2A-4E5B-BA73-9F3515B4D5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458E845-0474-49DB-B1A9-E6FC872324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999E37-8491-4745-8760-E8FE60F59B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5EC017-C889-441A-9B10-12A07EC89048}"/>
              </a:ext>
            </a:extLst>
          </p:cNvPr>
          <p:cNvSpPr>
            <a:spLocks noGrp="1"/>
          </p:cNvSpPr>
          <p:nvPr>
            <p:ph type="dt" sz="half" idx="10"/>
          </p:nvPr>
        </p:nvSpPr>
        <p:spPr/>
        <p:txBody>
          <a:bodyPr/>
          <a:lstStyle/>
          <a:p>
            <a:fld id="{E67A72E2-9081-4BCE-BAC9-7033FCDA3A7B}" type="datetimeFigureOut">
              <a:rPr lang="en-US" smtClean="0"/>
              <a:t>5/3/2025</a:t>
            </a:fld>
            <a:endParaRPr lang="en-US"/>
          </a:p>
        </p:txBody>
      </p:sp>
      <p:sp>
        <p:nvSpPr>
          <p:cNvPr id="6" name="Footer Placeholder 5">
            <a:extLst>
              <a:ext uri="{FF2B5EF4-FFF2-40B4-BE49-F238E27FC236}">
                <a16:creationId xmlns:a16="http://schemas.microsoft.com/office/drawing/2014/main" id="{0C54E039-D685-44A8-BDBC-017FEF03B9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C0B3F-401D-4725-A30F-908BA40E9840}"/>
              </a:ext>
            </a:extLst>
          </p:cNvPr>
          <p:cNvSpPr>
            <a:spLocks noGrp="1"/>
          </p:cNvSpPr>
          <p:nvPr>
            <p:ph type="sldNum" sz="quarter" idx="12"/>
          </p:nvPr>
        </p:nvSpPr>
        <p:spPr/>
        <p:txBody>
          <a:bodyPr/>
          <a:lstStyle/>
          <a:p>
            <a:fld id="{5F27A937-02B0-43D4-9426-F281F03C75B5}" type="slidenum">
              <a:rPr lang="en-US" smtClean="0"/>
              <a:t>‹#›</a:t>
            </a:fld>
            <a:endParaRPr lang="en-US"/>
          </a:p>
        </p:txBody>
      </p:sp>
    </p:spTree>
    <p:extLst>
      <p:ext uri="{BB962C8B-B14F-4D97-AF65-F5344CB8AC3E}">
        <p14:creationId xmlns:p14="http://schemas.microsoft.com/office/powerpoint/2010/main" val="2861971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F4251-DF20-480C-8E68-B12ED70400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8245D4-A6A2-455B-A001-CE0248D963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9505974-3F9D-43DE-AE48-4171289B92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F6E584-2C7C-438B-843A-DE38C8894943}"/>
              </a:ext>
            </a:extLst>
          </p:cNvPr>
          <p:cNvSpPr>
            <a:spLocks noGrp="1"/>
          </p:cNvSpPr>
          <p:nvPr>
            <p:ph type="dt" sz="half" idx="10"/>
          </p:nvPr>
        </p:nvSpPr>
        <p:spPr/>
        <p:txBody>
          <a:bodyPr/>
          <a:lstStyle/>
          <a:p>
            <a:fld id="{E67A72E2-9081-4BCE-BAC9-7033FCDA3A7B}" type="datetimeFigureOut">
              <a:rPr lang="en-US" smtClean="0"/>
              <a:t>5/3/2025</a:t>
            </a:fld>
            <a:endParaRPr lang="en-US"/>
          </a:p>
        </p:txBody>
      </p:sp>
      <p:sp>
        <p:nvSpPr>
          <p:cNvPr id="6" name="Footer Placeholder 5">
            <a:extLst>
              <a:ext uri="{FF2B5EF4-FFF2-40B4-BE49-F238E27FC236}">
                <a16:creationId xmlns:a16="http://schemas.microsoft.com/office/drawing/2014/main" id="{85596FDF-8263-4A08-885B-4F5C612B4B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429764-737B-449B-9F68-CFB490CAFEC0}"/>
              </a:ext>
            </a:extLst>
          </p:cNvPr>
          <p:cNvSpPr>
            <a:spLocks noGrp="1"/>
          </p:cNvSpPr>
          <p:nvPr>
            <p:ph type="sldNum" sz="quarter" idx="12"/>
          </p:nvPr>
        </p:nvSpPr>
        <p:spPr/>
        <p:txBody>
          <a:bodyPr/>
          <a:lstStyle/>
          <a:p>
            <a:fld id="{5F27A937-02B0-43D4-9426-F281F03C75B5}" type="slidenum">
              <a:rPr lang="en-US" smtClean="0"/>
              <a:t>‹#›</a:t>
            </a:fld>
            <a:endParaRPr lang="en-US"/>
          </a:p>
        </p:txBody>
      </p:sp>
    </p:spTree>
    <p:extLst>
      <p:ext uri="{BB962C8B-B14F-4D97-AF65-F5344CB8AC3E}">
        <p14:creationId xmlns:p14="http://schemas.microsoft.com/office/powerpoint/2010/main" val="3508428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EF54C-7638-4D66-83DC-FD89956F9F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D7F2D0-B6DD-4429-BD0A-5E948B3AB4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3286ED-26D9-408D-92F2-F81043B03811}"/>
              </a:ext>
            </a:extLst>
          </p:cNvPr>
          <p:cNvSpPr>
            <a:spLocks noGrp="1"/>
          </p:cNvSpPr>
          <p:nvPr>
            <p:ph type="dt" sz="half" idx="10"/>
          </p:nvPr>
        </p:nvSpPr>
        <p:spPr/>
        <p:txBody>
          <a:bodyPr/>
          <a:lstStyle/>
          <a:p>
            <a:fld id="{E67A72E2-9081-4BCE-BAC9-7033FCDA3A7B}" type="datetimeFigureOut">
              <a:rPr lang="en-US" smtClean="0"/>
              <a:t>5/3/2025</a:t>
            </a:fld>
            <a:endParaRPr lang="en-US"/>
          </a:p>
        </p:txBody>
      </p:sp>
      <p:sp>
        <p:nvSpPr>
          <p:cNvPr id="5" name="Footer Placeholder 4">
            <a:extLst>
              <a:ext uri="{FF2B5EF4-FFF2-40B4-BE49-F238E27FC236}">
                <a16:creationId xmlns:a16="http://schemas.microsoft.com/office/drawing/2014/main" id="{9BAFB9F3-9F67-4D5E-B228-29933C8A35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639E0F-F008-4AAD-9F74-03A339E527C1}"/>
              </a:ext>
            </a:extLst>
          </p:cNvPr>
          <p:cNvSpPr>
            <a:spLocks noGrp="1"/>
          </p:cNvSpPr>
          <p:nvPr>
            <p:ph type="sldNum" sz="quarter" idx="12"/>
          </p:nvPr>
        </p:nvSpPr>
        <p:spPr/>
        <p:txBody>
          <a:bodyPr/>
          <a:lstStyle/>
          <a:p>
            <a:fld id="{5F27A937-02B0-43D4-9426-F281F03C75B5}" type="slidenum">
              <a:rPr lang="en-US" smtClean="0"/>
              <a:t>‹#›</a:t>
            </a:fld>
            <a:endParaRPr lang="en-US"/>
          </a:p>
        </p:txBody>
      </p:sp>
    </p:spTree>
    <p:extLst>
      <p:ext uri="{BB962C8B-B14F-4D97-AF65-F5344CB8AC3E}">
        <p14:creationId xmlns:p14="http://schemas.microsoft.com/office/powerpoint/2010/main" val="2429968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C27E71-A846-4D50-A6D2-FC29D5E9D65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D16599-B782-46E1-81B5-99B01D62E6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B0AB96-8F23-4556-B83E-841712D61817}"/>
              </a:ext>
            </a:extLst>
          </p:cNvPr>
          <p:cNvSpPr>
            <a:spLocks noGrp="1"/>
          </p:cNvSpPr>
          <p:nvPr>
            <p:ph type="dt" sz="half" idx="10"/>
          </p:nvPr>
        </p:nvSpPr>
        <p:spPr/>
        <p:txBody>
          <a:bodyPr/>
          <a:lstStyle/>
          <a:p>
            <a:fld id="{E67A72E2-9081-4BCE-BAC9-7033FCDA3A7B}" type="datetimeFigureOut">
              <a:rPr lang="en-US" smtClean="0"/>
              <a:t>5/3/2025</a:t>
            </a:fld>
            <a:endParaRPr lang="en-US"/>
          </a:p>
        </p:txBody>
      </p:sp>
      <p:sp>
        <p:nvSpPr>
          <p:cNvPr id="5" name="Footer Placeholder 4">
            <a:extLst>
              <a:ext uri="{FF2B5EF4-FFF2-40B4-BE49-F238E27FC236}">
                <a16:creationId xmlns:a16="http://schemas.microsoft.com/office/drawing/2014/main" id="{AB13D91B-A850-4434-87F1-58930E1D79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CECF4B-48F6-4FA6-BB97-789B0EB3B751}"/>
              </a:ext>
            </a:extLst>
          </p:cNvPr>
          <p:cNvSpPr>
            <a:spLocks noGrp="1"/>
          </p:cNvSpPr>
          <p:nvPr>
            <p:ph type="sldNum" sz="quarter" idx="12"/>
          </p:nvPr>
        </p:nvSpPr>
        <p:spPr/>
        <p:txBody>
          <a:bodyPr/>
          <a:lstStyle/>
          <a:p>
            <a:fld id="{5F27A937-02B0-43D4-9426-F281F03C75B5}" type="slidenum">
              <a:rPr lang="en-US" smtClean="0"/>
              <a:t>‹#›</a:t>
            </a:fld>
            <a:endParaRPr lang="en-US"/>
          </a:p>
        </p:txBody>
      </p:sp>
    </p:spTree>
    <p:extLst>
      <p:ext uri="{BB962C8B-B14F-4D97-AF65-F5344CB8AC3E}">
        <p14:creationId xmlns:p14="http://schemas.microsoft.com/office/powerpoint/2010/main" val="36032719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096C8A-BA46-415B-B8A0-F9A5063218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FA1660-3A49-4D93-A1B0-B6B50DEEEF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1E3F11-009F-4438-A705-9EC18AB424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A72E2-9081-4BCE-BAC9-7033FCDA3A7B}" type="datetimeFigureOut">
              <a:rPr lang="en-US" smtClean="0"/>
              <a:t>5/3/2025</a:t>
            </a:fld>
            <a:endParaRPr lang="en-US"/>
          </a:p>
        </p:txBody>
      </p:sp>
      <p:sp>
        <p:nvSpPr>
          <p:cNvPr id="5" name="Footer Placeholder 4">
            <a:extLst>
              <a:ext uri="{FF2B5EF4-FFF2-40B4-BE49-F238E27FC236}">
                <a16:creationId xmlns:a16="http://schemas.microsoft.com/office/drawing/2014/main" id="{83E34637-17F1-42A9-BA5E-A599260DCC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5D7448F-2E36-4853-9941-901A6773A9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27A937-02B0-43D4-9426-F281F03C75B5}" type="slidenum">
              <a:rPr lang="en-US" smtClean="0"/>
              <a:t>‹#›</a:t>
            </a:fld>
            <a:endParaRPr lang="en-US"/>
          </a:p>
        </p:txBody>
      </p:sp>
      <p:sp>
        <p:nvSpPr>
          <p:cNvPr id="8" name="TextBox 7">
            <a:extLst>
              <a:ext uri="{FF2B5EF4-FFF2-40B4-BE49-F238E27FC236}">
                <a16:creationId xmlns:a16="http://schemas.microsoft.com/office/drawing/2014/main" id="{CE4DA53B-88DD-4857-9869-BEBB635B2B91}"/>
              </a:ext>
            </a:extLst>
          </p:cNvPr>
          <p:cNvSpPr txBox="1"/>
          <p:nvPr userDrawn="1">
            <p:extLst>
              <p:ext uri="{1162E1C5-73C7-4A58-AE30-91384D911F3F}">
                <p184:classification xmlns:p184="http://schemas.microsoft.com/office/powerpoint/2018/4/main" val="ftr"/>
              </p:ext>
            </p:extLst>
          </p:nvPr>
        </p:nvSpPr>
        <p:spPr>
          <a:xfrm>
            <a:off x="5849112" y="6705600"/>
            <a:ext cx="338138" cy="152400"/>
          </a:xfrm>
          <a:prstGeom prst="rect">
            <a:avLst/>
          </a:prstGeom>
        </p:spPr>
        <p:txBody>
          <a:bodyPr horzOverflow="overflow" lIns="0" tIns="0" rIns="0" bIns="0">
            <a:spAutoFit/>
          </a:bodyPr>
          <a:lstStyle/>
          <a:p>
            <a:pPr algn="ctr"/>
            <a:r>
              <a:rPr lang="en-US" sz="1000">
                <a:solidFill>
                  <a:srgbClr val="008000"/>
                </a:solidFill>
                <a:latin typeface="Calibri" panose="020F0502020204030204" pitchFamily="34" charset="0"/>
                <a:cs typeface="Calibri" panose="020F0502020204030204" pitchFamily="34" charset="0"/>
              </a:rPr>
              <a:t>Public</a:t>
            </a:r>
          </a:p>
        </p:txBody>
      </p:sp>
    </p:spTree>
    <p:extLst>
      <p:ext uri="{BB962C8B-B14F-4D97-AF65-F5344CB8AC3E}">
        <p14:creationId xmlns:p14="http://schemas.microsoft.com/office/powerpoint/2010/main" val="36961697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jp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jp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3" Type="http://schemas.openxmlformats.org/officeDocument/2006/relationships/image" Target="../media/image18.svg"/><Relationship Id="rId7" Type="http://schemas.openxmlformats.org/officeDocument/2006/relationships/image" Target="../media/image22.svg"/><Relationship Id="rId12" Type="http://schemas.openxmlformats.org/officeDocument/2006/relationships/image" Target="../media/image27.png"/><Relationship Id="rId17" Type="http://schemas.openxmlformats.org/officeDocument/2006/relationships/image" Target="../media/image32.svg"/><Relationship Id="rId2" Type="http://schemas.openxmlformats.org/officeDocument/2006/relationships/image" Target="../media/image17.png"/><Relationship Id="rId16"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5" Type="http://schemas.openxmlformats.org/officeDocument/2006/relationships/image" Target="../media/image3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 Id="rId14"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Oval 43">
            <a:extLst>
              <a:ext uri="{FF2B5EF4-FFF2-40B4-BE49-F238E27FC236}">
                <a16:creationId xmlns:a16="http://schemas.microsoft.com/office/drawing/2014/main" id="{ACE3A148-34FD-4415-AD6E-FC49E0AADECA}"/>
              </a:ext>
            </a:extLst>
          </p:cNvPr>
          <p:cNvSpPr/>
          <p:nvPr/>
        </p:nvSpPr>
        <p:spPr>
          <a:xfrm>
            <a:off x="9213130" y="-29679"/>
            <a:ext cx="1489435" cy="1362895"/>
          </a:xfrm>
          <a:prstGeom prst="ellipse">
            <a:avLst/>
          </a:prstGeom>
          <a:solidFill>
            <a:srgbClr val="FED2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D4C7507-9ED0-4782-B7BF-80CDC9876C05}"/>
              </a:ext>
            </a:extLst>
          </p:cNvPr>
          <p:cNvSpPr/>
          <p:nvPr/>
        </p:nvSpPr>
        <p:spPr>
          <a:xfrm>
            <a:off x="10702565" y="3145595"/>
            <a:ext cx="1489435" cy="1362895"/>
          </a:xfrm>
          <a:prstGeom prst="ellipse">
            <a:avLst/>
          </a:prstGeom>
          <a:solidFill>
            <a:srgbClr val="FED2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727F371A-EDD8-470F-92A2-ECAAC24A4598}"/>
              </a:ext>
            </a:extLst>
          </p:cNvPr>
          <p:cNvSpPr/>
          <p:nvPr/>
        </p:nvSpPr>
        <p:spPr>
          <a:xfrm>
            <a:off x="678729" y="5486488"/>
            <a:ext cx="1489435" cy="1362895"/>
          </a:xfrm>
          <a:prstGeom prst="ellipse">
            <a:avLst/>
          </a:prstGeom>
          <a:solidFill>
            <a:srgbClr val="FED2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D915D67A-8B80-4E24-B87C-B93196D04E6B}"/>
              </a:ext>
            </a:extLst>
          </p:cNvPr>
          <p:cNvSpPr/>
          <p:nvPr/>
        </p:nvSpPr>
        <p:spPr>
          <a:xfrm>
            <a:off x="367645" y="7027"/>
            <a:ext cx="1489435" cy="1362895"/>
          </a:xfrm>
          <a:prstGeom prst="ellipse">
            <a:avLst/>
          </a:prstGeom>
          <a:solidFill>
            <a:srgbClr val="FED2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5275DD27-6D31-409B-B73C-9054D221ACFF}"/>
              </a:ext>
            </a:extLst>
          </p:cNvPr>
          <p:cNvSpPr/>
          <p:nvPr/>
        </p:nvSpPr>
        <p:spPr>
          <a:xfrm rot="14467740">
            <a:off x="5257087" y="5174002"/>
            <a:ext cx="2468880" cy="736993"/>
          </a:xfrm>
          <a:prstGeom prst="roundRect">
            <a:avLst/>
          </a:prstGeom>
          <a:solidFill>
            <a:srgbClr val="FED2CD"/>
          </a:solidFill>
          <a:ln>
            <a:solidFill>
              <a:srgbClr val="FED2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B38810A2-C612-40CD-B785-95566C397711}"/>
              </a:ext>
            </a:extLst>
          </p:cNvPr>
          <p:cNvSpPr/>
          <p:nvPr/>
        </p:nvSpPr>
        <p:spPr>
          <a:xfrm rot="12299026">
            <a:off x="4911822" y="1081295"/>
            <a:ext cx="2468880" cy="736993"/>
          </a:xfrm>
          <a:prstGeom prst="roundRect">
            <a:avLst/>
          </a:prstGeom>
          <a:solidFill>
            <a:srgbClr val="FED2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06783D84-0621-4CB5-86AF-8ADC0152D184}"/>
              </a:ext>
            </a:extLst>
          </p:cNvPr>
          <p:cNvSpPr/>
          <p:nvPr/>
        </p:nvSpPr>
        <p:spPr>
          <a:xfrm rot="17721614">
            <a:off x="4480138" y="814816"/>
            <a:ext cx="2468880" cy="736993"/>
          </a:xfrm>
          <a:prstGeom prst="roundRect">
            <a:avLst/>
          </a:prstGeom>
          <a:solidFill>
            <a:srgbClr val="FED2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575E93-1086-4A5B-8FFF-52F3ECD5AA46}"/>
              </a:ext>
            </a:extLst>
          </p:cNvPr>
          <p:cNvSpPr/>
          <p:nvPr/>
        </p:nvSpPr>
        <p:spPr>
          <a:xfrm rot="17554957">
            <a:off x="4873695" y="153611"/>
            <a:ext cx="1764041" cy="2145448"/>
          </a:xfrm>
          <a:prstGeom prst="rect">
            <a:avLst/>
          </a:prstGeom>
          <a:solidFill>
            <a:schemeClr val="bg1"/>
          </a:solidFill>
          <a:ln>
            <a:solidFill>
              <a:srgbClr val="FED2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a:extLst>
              <a:ext uri="{FF2B5EF4-FFF2-40B4-BE49-F238E27FC236}">
                <a16:creationId xmlns:a16="http://schemas.microsoft.com/office/drawing/2014/main" id="{9C646787-E0F1-430D-97AD-E5176C312264}"/>
              </a:ext>
            </a:extLst>
          </p:cNvPr>
          <p:cNvSpPr/>
          <p:nvPr/>
        </p:nvSpPr>
        <p:spPr>
          <a:xfrm rot="5400000">
            <a:off x="2356" y="-2355"/>
            <a:ext cx="6858003" cy="6862714"/>
          </a:xfrm>
          <a:prstGeom prst="triangle">
            <a:avLst/>
          </a:prstGeom>
          <a:solidFill>
            <a:srgbClr val="FDC6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79">
            <a:extLst>
              <a:ext uri="{FF2B5EF4-FFF2-40B4-BE49-F238E27FC236}">
                <a16:creationId xmlns:a16="http://schemas.microsoft.com/office/drawing/2014/main" id="{7CE92BE8-E08D-4D80-AC78-FEA8BE31C2B0}"/>
              </a:ext>
            </a:extLst>
          </p:cNvPr>
          <p:cNvSpPr>
            <a:spLocks noGrp="1"/>
          </p:cNvSpPr>
          <p:nvPr>
            <p:ph type="ctrTitle"/>
          </p:nvPr>
        </p:nvSpPr>
        <p:spPr>
          <a:xfrm>
            <a:off x="-164953" y="1462416"/>
            <a:ext cx="2803927" cy="1350270"/>
          </a:xfrm>
        </p:spPr>
        <p:txBody>
          <a:bodyPr>
            <a:noAutofit/>
          </a:bodyPr>
          <a:lstStyle/>
          <a:p>
            <a:r>
              <a:rPr lang="en-US" sz="4500" b="1" dirty="0">
                <a:latin typeface="+mn-lt"/>
              </a:rPr>
              <a:t>CANTEEN</a:t>
            </a:r>
          </a:p>
        </p:txBody>
      </p:sp>
      <p:sp>
        <p:nvSpPr>
          <p:cNvPr id="12" name="Subtitle 80">
            <a:extLst>
              <a:ext uri="{FF2B5EF4-FFF2-40B4-BE49-F238E27FC236}">
                <a16:creationId xmlns:a16="http://schemas.microsoft.com/office/drawing/2014/main" id="{1832C7D4-8486-4B7C-80C9-09C13624414D}"/>
              </a:ext>
            </a:extLst>
          </p:cNvPr>
          <p:cNvSpPr>
            <a:spLocks noGrp="1"/>
          </p:cNvSpPr>
          <p:nvPr>
            <p:ph type="subTitle" idx="1"/>
          </p:nvPr>
        </p:nvSpPr>
        <p:spPr>
          <a:xfrm>
            <a:off x="-414563" y="5001138"/>
            <a:ext cx="4579668" cy="1166797"/>
          </a:xfrm>
        </p:spPr>
        <p:txBody>
          <a:bodyPr/>
          <a:lstStyle/>
          <a:p>
            <a:r>
              <a:rPr lang="en-US" b="1" dirty="0"/>
              <a:t>By John Aigbonohan</a:t>
            </a:r>
          </a:p>
        </p:txBody>
      </p:sp>
      <p:sp>
        <p:nvSpPr>
          <p:cNvPr id="14" name="Rectangle 13">
            <a:extLst>
              <a:ext uri="{FF2B5EF4-FFF2-40B4-BE49-F238E27FC236}">
                <a16:creationId xmlns:a16="http://schemas.microsoft.com/office/drawing/2014/main" id="{22F1CA68-E1B5-415B-A7BB-4042295083D5}"/>
              </a:ext>
            </a:extLst>
          </p:cNvPr>
          <p:cNvSpPr/>
          <p:nvPr/>
        </p:nvSpPr>
        <p:spPr>
          <a:xfrm rot="19974242">
            <a:off x="5473855" y="4276107"/>
            <a:ext cx="1862060" cy="2283117"/>
          </a:xfrm>
          <a:prstGeom prst="rect">
            <a:avLst/>
          </a:prstGeom>
          <a:solidFill>
            <a:schemeClr val="bg1"/>
          </a:solidFill>
          <a:ln>
            <a:solidFill>
              <a:srgbClr val="FDC6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itle 79">
            <a:extLst>
              <a:ext uri="{FF2B5EF4-FFF2-40B4-BE49-F238E27FC236}">
                <a16:creationId xmlns:a16="http://schemas.microsoft.com/office/drawing/2014/main" id="{59006217-22EF-458C-91EA-32187BCDE1D8}"/>
              </a:ext>
            </a:extLst>
          </p:cNvPr>
          <p:cNvSpPr txBox="1">
            <a:spLocks/>
          </p:cNvSpPr>
          <p:nvPr/>
        </p:nvSpPr>
        <p:spPr>
          <a:xfrm>
            <a:off x="-222183" y="463031"/>
            <a:ext cx="2952579" cy="151457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500" b="1" dirty="0">
                <a:latin typeface="+mn-lt"/>
              </a:rPr>
              <a:t>UNILEVER</a:t>
            </a:r>
          </a:p>
        </p:txBody>
      </p:sp>
      <p:sp>
        <p:nvSpPr>
          <p:cNvPr id="19" name="Title 79">
            <a:extLst>
              <a:ext uri="{FF2B5EF4-FFF2-40B4-BE49-F238E27FC236}">
                <a16:creationId xmlns:a16="http://schemas.microsoft.com/office/drawing/2014/main" id="{6D3F4D74-6C90-4ACD-9E78-5D94A41F2A45}"/>
              </a:ext>
            </a:extLst>
          </p:cNvPr>
          <p:cNvSpPr txBox="1">
            <a:spLocks/>
          </p:cNvSpPr>
          <p:nvPr/>
        </p:nvSpPr>
        <p:spPr>
          <a:xfrm>
            <a:off x="-558115" y="1981173"/>
            <a:ext cx="5714577" cy="158053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500" b="1" dirty="0">
                <a:latin typeface="+mn-lt"/>
              </a:rPr>
              <a:t>ORDERING</a:t>
            </a:r>
            <a:r>
              <a:rPr lang="en-US" sz="4500" dirty="0">
                <a:latin typeface="+mn-lt"/>
              </a:rPr>
              <a:t> </a:t>
            </a:r>
            <a:r>
              <a:rPr lang="en-US" sz="4500" b="1" dirty="0">
                <a:latin typeface="+mn-lt"/>
              </a:rPr>
              <a:t>SYSTEM</a:t>
            </a:r>
          </a:p>
        </p:txBody>
      </p:sp>
      <p:pic>
        <p:nvPicPr>
          <p:cNvPr id="23" name="Picture 22" descr="A bowl of food with a banana and cucumbers&#10;&#10;Description automatically generated">
            <a:extLst>
              <a:ext uri="{FF2B5EF4-FFF2-40B4-BE49-F238E27FC236}">
                <a16:creationId xmlns:a16="http://schemas.microsoft.com/office/drawing/2014/main" id="{8387E674-2CB9-40CC-B82E-ECFA419A9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370881">
            <a:off x="4884803" y="547192"/>
            <a:ext cx="1741823" cy="1343300"/>
          </a:xfrm>
          <a:prstGeom prst="rect">
            <a:avLst/>
          </a:prstGeom>
        </p:spPr>
      </p:pic>
      <p:pic>
        <p:nvPicPr>
          <p:cNvPr id="27" name="Picture 26" descr="A plate of meat and salad&#10;&#10;Description automatically generated">
            <a:extLst>
              <a:ext uri="{FF2B5EF4-FFF2-40B4-BE49-F238E27FC236}">
                <a16:creationId xmlns:a16="http://schemas.microsoft.com/office/drawing/2014/main" id="{4F683245-DBA4-423E-ABB1-F86510C1A0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3755383">
            <a:off x="5493403" y="4695672"/>
            <a:ext cx="1785812" cy="1444361"/>
          </a:xfrm>
          <a:prstGeom prst="rect">
            <a:avLst/>
          </a:prstGeom>
        </p:spPr>
      </p:pic>
      <p:sp>
        <p:nvSpPr>
          <p:cNvPr id="37" name="Chord 36">
            <a:extLst>
              <a:ext uri="{FF2B5EF4-FFF2-40B4-BE49-F238E27FC236}">
                <a16:creationId xmlns:a16="http://schemas.microsoft.com/office/drawing/2014/main" id="{2838501D-14A9-4E3F-95DB-12F7BBAD6962}"/>
              </a:ext>
            </a:extLst>
          </p:cNvPr>
          <p:cNvSpPr/>
          <p:nvPr/>
        </p:nvSpPr>
        <p:spPr>
          <a:xfrm rot="1327415">
            <a:off x="9799469" y="31456"/>
            <a:ext cx="3330383" cy="3164687"/>
          </a:xfrm>
          <a:prstGeom prst="chord">
            <a:avLst>
              <a:gd name="adj1" fmla="val 2475680"/>
              <a:gd name="adj2" fmla="val 16505974"/>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Oval 44">
            <a:extLst>
              <a:ext uri="{FF2B5EF4-FFF2-40B4-BE49-F238E27FC236}">
                <a16:creationId xmlns:a16="http://schemas.microsoft.com/office/drawing/2014/main" id="{86D742D3-28BB-402C-A4BD-48D5B9CE98CC}"/>
              </a:ext>
            </a:extLst>
          </p:cNvPr>
          <p:cNvSpPr/>
          <p:nvPr/>
        </p:nvSpPr>
        <p:spPr>
          <a:xfrm>
            <a:off x="11190340" y="4622344"/>
            <a:ext cx="548640" cy="457200"/>
          </a:xfrm>
          <a:prstGeom prst="ellipse">
            <a:avLst/>
          </a:prstGeom>
          <a:solidFill>
            <a:srgbClr val="FED2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76D38114-4CA7-4586-A732-573F11C808B6}"/>
              </a:ext>
            </a:extLst>
          </p:cNvPr>
          <p:cNvSpPr/>
          <p:nvPr/>
        </p:nvSpPr>
        <p:spPr>
          <a:xfrm>
            <a:off x="11327500" y="5220036"/>
            <a:ext cx="274320" cy="274320"/>
          </a:xfrm>
          <a:prstGeom prst="ellipse">
            <a:avLst/>
          </a:prstGeom>
          <a:solidFill>
            <a:srgbClr val="FED2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EF631EE-84DA-4330-8DD2-C01DEEE21E8C}"/>
              </a:ext>
            </a:extLst>
          </p:cNvPr>
          <p:cNvSpPr/>
          <p:nvPr/>
        </p:nvSpPr>
        <p:spPr>
          <a:xfrm>
            <a:off x="9143036" y="1276880"/>
            <a:ext cx="548640" cy="457200"/>
          </a:xfrm>
          <a:prstGeom prst="ellipse">
            <a:avLst/>
          </a:prstGeom>
          <a:solidFill>
            <a:srgbClr val="FED2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34282F9E-7ACC-4ABA-9F42-B80359416D01}"/>
              </a:ext>
            </a:extLst>
          </p:cNvPr>
          <p:cNvSpPr/>
          <p:nvPr/>
        </p:nvSpPr>
        <p:spPr>
          <a:xfrm>
            <a:off x="9060338" y="1820662"/>
            <a:ext cx="274320" cy="274320"/>
          </a:xfrm>
          <a:prstGeom prst="ellipse">
            <a:avLst/>
          </a:prstGeom>
          <a:solidFill>
            <a:srgbClr val="FED2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15242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44420DE5-8333-481F-8B58-9FB41E2BFC2E}"/>
              </a:ext>
            </a:extLst>
          </p:cNvPr>
          <p:cNvSpPr/>
          <p:nvPr/>
        </p:nvSpPr>
        <p:spPr>
          <a:xfrm>
            <a:off x="7073246" y="5821052"/>
            <a:ext cx="1018095" cy="1036948"/>
          </a:xfrm>
          <a:prstGeom prst="ellipse">
            <a:avLst/>
          </a:prstGeom>
          <a:solidFill>
            <a:srgbClr val="FDC79B"/>
          </a:solidFill>
          <a:ln>
            <a:solidFill>
              <a:srgbClr val="FDC7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214F6BA0-26B6-4471-82DD-D4E8F5C81037}"/>
              </a:ext>
            </a:extLst>
          </p:cNvPr>
          <p:cNvSpPr/>
          <p:nvPr/>
        </p:nvSpPr>
        <p:spPr>
          <a:xfrm>
            <a:off x="1679543" y="5394488"/>
            <a:ext cx="1018095" cy="1036948"/>
          </a:xfrm>
          <a:prstGeom prst="ellipse">
            <a:avLst/>
          </a:prstGeom>
          <a:solidFill>
            <a:srgbClr val="FDC79B"/>
          </a:solidFill>
          <a:ln>
            <a:solidFill>
              <a:srgbClr val="FDC7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2026437-A9D2-428E-AD74-2EFD5DC9F437}"/>
              </a:ext>
            </a:extLst>
          </p:cNvPr>
          <p:cNvSpPr/>
          <p:nvPr/>
        </p:nvSpPr>
        <p:spPr>
          <a:xfrm>
            <a:off x="182252" y="518474"/>
            <a:ext cx="1018095" cy="1036948"/>
          </a:xfrm>
          <a:prstGeom prst="ellipse">
            <a:avLst/>
          </a:prstGeom>
          <a:solidFill>
            <a:srgbClr val="EBE4DA"/>
          </a:solidFill>
          <a:ln>
            <a:solidFill>
              <a:srgbClr val="EBE4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B3DB9CB-38CB-47CE-853C-08A368C877AC}"/>
              </a:ext>
            </a:extLst>
          </p:cNvPr>
          <p:cNvSpPr/>
          <p:nvPr/>
        </p:nvSpPr>
        <p:spPr>
          <a:xfrm>
            <a:off x="8589389" y="0"/>
            <a:ext cx="1018095" cy="1036948"/>
          </a:xfrm>
          <a:prstGeom prst="ellipse">
            <a:avLst/>
          </a:prstGeom>
          <a:solidFill>
            <a:srgbClr val="EBE4DA"/>
          </a:solidFill>
          <a:ln>
            <a:solidFill>
              <a:srgbClr val="EBE4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9F186C8-9C66-4DE4-B967-C6ACA7EA2ED9}"/>
              </a:ext>
            </a:extLst>
          </p:cNvPr>
          <p:cNvSpPr/>
          <p:nvPr/>
        </p:nvSpPr>
        <p:spPr>
          <a:xfrm>
            <a:off x="10991653" y="737647"/>
            <a:ext cx="1018095" cy="1036948"/>
          </a:xfrm>
          <a:prstGeom prst="ellipse">
            <a:avLst/>
          </a:prstGeom>
          <a:solidFill>
            <a:srgbClr val="EBE4DA"/>
          </a:solidFill>
          <a:ln>
            <a:solidFill>
              <a:srgbClr val="EBE4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arallelogram 5">
            <a:extLst>
              <a:ext uri="{FF2B5EF4-FFF2-40B4-BE49-F238E27FC236}">
                <a16:creationId xmlns:a16="http://schemas.microsoft.com/office/drawing/2014/main" id="{FA63BFE9-3A16-4B58-A162-C9D11EA94229}"/>
              </a:ext>
            </a:extLst>
          </p:cNvPr>
          <p:cNvSpPr/>
          <p:nvPr/>
        </p:nvSpPr>
        <p:spPr>
          <a:xfrm rot="5400000">
            <a:off x="5410200" y="-5410200"/>
            <a:ext cx="1371600" cy="12192000"/>
          </a:xfrm>
          <a:prstGeom prst="parallelogram">
            <a:avLst/>
          </a:prstGeom>
          <a:solidFill>
            <a:srgbClr val="FDC79B"/>
          </a:solidFill>
          <a:ln>
            <a:solidFill>
              <a:srgbClr val="FDC7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Parallelogram 6">
            <a:extLst>
              <a:ext uri="{FF2B5EF4-FFF2-40B4-BE49-F238E27FC236}">
                <a16:creationId xmlns:a16="http://schemas.microsoft.com/office/drawing/2014/main" id="{42CC9304-19B2-4BB2-9FBE-6FB0CC96F143}"/>
              </a:ext>
            </a:extLst>
          </p:cNvPr>
          <p:cNvSpPr/>
          <p:nvPr/>
        </p:nvSpPr>
        <p:spPr>
          <a:xfrm rot="16200000" flipV="1">
            <a:off x="5459691" y="26708"/>
            <a:ext cx="1272618" cy="12192000"/>
          </a:xfrm>
          <a:prstGeom prst="parallelogram">
            <a:avLst/>
          </a:prstGeom>
          <a:solidFill>
            <a:srgbClr val="EBE4DA"/>
          </a:solidFill>
          <a:ln>
            <a:solidFill>
              <a:srgbClr val="EBE4D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itle 8">
            <a:extLst>
              <a:ext uri="{FF2B5EF4-FFF2-40B4-BE49-F238E27FC236}">
                <a16:creationId xmlns:a16="http://schemas.microsoft.com/office/drawing/2014/main" id="{159C4EEB-58EF-4BAC-88DF-CC1F23F18EC8}"/>
              </a:ext>
            </a:extLst>
          </p:cNvPr>
          <p:cNvSpPr txBox="1">
            <a:spLocks/>
          </p:cNvSpPr>
          <p:nvPr/>
        </p:nvSpPr>
        <p:spPr>
          <a:xfrm>
            <a:off x="2398897" y="-73894"/>
            <a:ext cx="7394206" cy="128867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b="1" dirty="0">
                <a:latin typeface="+mn-lt"/>
              </a:rPr>
              <a:t>Executive Summary</a:t>
            </a:r>
          </a:p>
        </p:txBody>
      </p:sp>
      <p:sp>
        <p:nvSpPr>
          <p:cNvPr id="14" name="Content Placeholder 9">
            <a:extLst>
              <a:ext uri="{FF2B5EF4-FFF2-40B4-BE49-F238E27FC236}">
                <a16:creationId xmlns:a16="http://schemas.microsoft.com/office/drawing/2014/main" id="{CAB62AB4-1816-4D9B-96EE-130E37DFCA0E}"/>
              </a:ext>
            </a:extLst>
          </p:cNvPr>
          <p:cNvSpPr txBox="1">
            <a:spLocks/>
          </p:cNvSpPr>
          <p:nvPr/>
        </p:nvSpPr>
        <p:spPr>
          <a:xfrm>
            <a:off x="354626" y="1964209"/>
            <a:ext cx="11146074"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GB" dirty="0"/>
              <a:t>In the bid to find a lasting solution to the inefficiencies around the meal management and catering services  raising employee happiness, and streamlining operational procedures, the proposed Canteen Ordering System seeks to completely transform our current lunchtime procedures. This business case shows the strong arguments for putting this system in place as well as how it might affect worker output and overall organisational effectiveness. </a:t>
            </a:r>
            <a:endParaRPr lang="en-US" dirty="0"/>
          </a:p>
        </p:txBody>
      </p:sp>
    </p:spTree>
    <p:extLst>
      <p:ext uri="{BB962C8B-B14F-4D97-AF65-F5344CB8AC3E}">
        <p14:creationId xmlns:p14="http://schemas.microsoft.com/office/powerpoint/2010/main" val="137178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c 3">
            <a:extLst>
              <a:ext uri="{FF2B5EF4-FFF2-40B4-BE49-F238E27FC236}">
                <a16:creationId xmlns:a16="http://schemas.microsoft.com/office/drawing/2014/main" id="{0A190E17-6FA5-47AF-B4F4-D899229E2B8B}"/>
              </a:ext>
            </a:extLst>
          </p:cNvPr>
          <p:cNvSpPr/>
          <p:nvPr/>
        </p:nvSpPr>
        <p:spPr>
          <a:xfrm>
            <a:off x="1685202" y="1831156"/>
            <a:ext cx="2834640" cy="4647415"/>
          </a:xfrm>
          <a:prstGeom prst="arc">
            <a:avLst>
              <a:gd name="adj1" fmla="val 2971284"/>
              <a:gd name="adj2" fmla="val 19749910"/>
            </a:avLst>
          </a:prstGeom>
          <a:ln w="85725">
            <a:solidFill>
              <a:srgbClr val="CA660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Arc 4">
            <a:extLst>
              <a:ext uri="{FF2B5EF4-FFF2-40B4-BE49-F238E27FC236}">
                <a16:creationId xmlns:a16="http://schemas.microsoft.com/office/drawing/2014/main" id="{3FFF806C-73F0-4BE7-915C-6728FB837C2A}"/>
              </a:ext>
            </a:extLst>
          </p:cNvPr>
          <p:cNvSpPr/>
          <p:nvPr/>
        </p:nvSpPr>
        <p:spPr>
          <a:xfrm rot="10800000">
            <a:off x="4428086" y="776923"/>
            <a:ext cx="3082879" cy="4530367"/>
          </a:xfrm>
          <a:prstGeom prst="arc">
            <a:avLst>
              <a:gd name="adj1" fmla="val 13754900"/>
              <a:gd name="adj2" fmla="val 20531738"/>
            </a:avLst>
          </a:prstGeom>
          <a:ln w="85725">
            <a:solidFill>
              <a:srgbClr val="E4DAA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Arc 7">
            <a:extLst>
              <a:ext uri="{FF2B5EF4-FFF2-40B4-BE49-F238E27FC236}">
                <a16:creationId xmlns:a16="http://schemas.microsoft.com/office/drawing/2014/main" id="{418EF55A-E4F6-4594-8B87-62CC30B5FF6A}"/>
              </a:ext>
            </a:extLst>
          </p:cNvPr>
          <p:cNvSpPr/>
          <p:nvPr/>
        </p:nvSpPr>
        <p:spPr>
          <a:xfrm>
            <a:off x="7175685" y="1622197"/>
            <a:ext cx="2834640" cy="4647415"/>
          </a:xfrm>
          <a:prstGeom prst="arc">
            <a:avLst>
              <a:gd name="adj1" fmla="val 10124618"/>
              <a:gd name="adj2" fmla="val 6929765"/>
            </a:avLst>
          </a:prstGeom>
          <a:ln w="85725">
            <a:solidFill>
              <a:srgbClr val="CA660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Oval 10">
            <a:extLst>
              <a:ext uri="{FF2B5EF4-FFF2-40B4-BE49-F238E27FC236}">
                <a16:creationId xmlns:a16="http://schemas.microsoft.com/office/drawing/2014/main" id="{A51A04E4-F02E-4B11-86C3-1031AF654404}"/>
              </a:ext>
            </a:extLst>
          </p:cNvPr>
          <p:cNvSpPr/>
          <p:nvPr/>
        </p:nvSpPr>
        <p:spPr>
          <a:xfrm>
            <a:off x="2729061" y="2314550"/>
            <a:ext cx="650449" cy="660664"/>
          </a:xfrm>
          <a:prstGeom prst="ellipse">
            <a:avLst/>
          </a:prstGeom>
          <a:solidFill>
            <a:srgbClr val="CA6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01</a:t>
            </a:r>
          </a:p>
        </p:txBody>
      </p:sp>
      <p:sp>
        <p:nvSpPr>
          <p:cNvPr id="12" name="Oval 11">
            <a:extLst>
              <a:ext uri="{FF2B5EF4-FFF2-40B4-BE49-F238E27FC236}">
                <a16:creationId xmlns:a16="http://schemas.microsoft.com/office/drawing/2014/main" id="{A590D8D9-92DD-4C05-8F19-83C0702E9E20}"/>
              </a:ext>
            </a:extLst>
          </p:cNvPr>
          <p:cNvSpPr/>
          <p:nvPr/>
        </p:nvSpPr>
        <p:spPr>
          <a:xfrm>
            <a:off x="5613975" y="4232803"/>
            <a:ext cx="650449" cy="660664"/>
          </a:xfrm>
          <a:prstGeom prst="ellipse">
            <a:avLst/>
          </a:prstGeom>
          <a:solidFill>
            <a:srgbClr val="E4DA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02</a:t>
            </a:r>
          </a:p>
        </p:txBody>
      </p:sp>
      <p:sp>
        <p:nvSpPr>
          <p:cNvPr id="13" name="Oval 12">
            <a:extLst>
              <a:ext uri="{FF2B5EF4-FFF2-40B4-BE49-F238E27FC236}">
                <a16:creationId xmlns:a16="http://schemas.microsoft.com/office/drawing/2014/main" id="{DC4401C7-D664-4E80-B55B-6FD0389A0C12}"/>
              </a:ext>
            </a:extLst>
          </p:cNvPr>
          <p:cNvSpPr/>
          <p:nvPr/>
        </p:nvSpPr>
        <p:spPr>
          <a:xfrm>
            <a:off x="8274066" y="2060369"/>
            <a:ext cx="609910" cy="660664"/>
          </a:xfrm>
          <a:prstGeom prst="ellipse">
            <a:avLst/>
          </a:prstGeom>
          <a:solidFill>
            <a:srgbClr val="CA6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03</a:t>
            </a:r>
          </a:p>
        </p:txBody>
      </p:sp>
      <p:sp>
        <p:nvSpPr>
          <p:cNvPr id="15" name="Oval 14">
            <a:extLst>
              <a:ext uri="{FF2B5EF4-FFF2-40B4-BE49-F238E27FC236}">
                <a16:creationId xmlns:a16="http://schemas.microsoft.com/office/drawing/2014/main" id="{D2538E42-F1A9-4857-8E02-8695D5993C06}"/>
              </a:ext>
            </a:extLst>
          </p:cNvPr>
          <p:cNvSpPr/>
          <p:nvPr/>
        </p:nvSpPr>
        <p:spPr>
          <a:xfrm>
            <a:off x="2494494" y="2060369"/>
            <a:ext cx="1140644" cy="1119091"/>
          </a:xfrm>
          <a:prstGeom prst="ellipse">
            <a:avLst/>
          </a:prstGeom>
          <a:noFill/>
          <a:ln>
            <a:solidFill>
              <a:srgbClr val="CA66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BD59684-B8B7-4182-ADC7-B97B38DD65FC}"/>
              </a:ext>
            </a:extLst>
          </p:cNvPr>
          <p:cNvSpPr/>
          <p:nvPr/>
        </p:nvSpPr>
        <p:spPr>
          <a:xfrm>
            <a:off x="5368878" y="4003590"/>
            <a:ext cx="1140644" cy="1119091"/>
          </a:xfrm>
          <a:prstGeom prst="ellipse">
            <a:avLst/>
          </a:prstGeom>
          <a:noFill/>
          <a:ln>
            <a:solidFill>
              <a:srgbClr val="E4DA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81B82DC-DA11-49F2-8D94-D3DA488F3DD0}"/>
              </a:ext>
            </a:extLst>
          </p:cNvPr>
          <p:cNvSpPr/>
          <p:nvPr/>
        </p:nvSpPr>
        <p:spPr>
          <a:xfrm>
            <a:off x="8022683" y="1831156"/>
            <a:ext cx="1140644" cy="1119091"/>
          </a:xfrm>
          <a:prstGeom prst="ellipse">
            <a:avLst/>
          </a:prstGeom>
          <a:noFill/>
          <a:ln>
            <a:solidFill>
              <a:srgbClr val="CA660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5A14FDE-5077-4B91-9983-F487E90679B3}"/>
              </a:ext>
            </a:extLst>
          </p:cNvPr>
          <p:cNvSpPr txBox="1"/>
          <p:nvPr/>
        </p:nvSpPr>
        <p:spPr>
          <a:xfrm>
            <a:off x="1924093" y="3244022"/>
            <a:ext cx="2383955" cy="2585323"/>
          </a:xfrm>
          <a:prstGeom prst="rect">
            <a:avLst/>
          </a:prstGeom>
          <a:noFill/>
        </p:spPr>
        <p:txBody>
          <a:bodyPr wrap="square">
            <a:spAutoFit/>
          </a:bodyPr>
          <a:lstStyle/>
          <a:p>
            <a:pPr algn="ctr"/>
            <a:r>
              <a:rPr lang="en-GB" b="1" u="sng" dirty="0"/>
              <a:t>Enhance Employee Experience</a:t>
            </a:r>
          </a:p>
          <a:p>
            <a:pPr algn="ctr"/>
            <a:r>
              <a:rPr lang="en-GB" dirty="0"/>
              <a:t>Shorten wait times, provide a wider selection of food, and streamline the lunch experience as a whole to increase employee happiness.</a:t>
            </a:r>
          </a:p>
        </p:txBody>
      </p:sp>
      <p:sp>
        <p:nvSpPr>
          <p:cNvPr id="22" name="TextBox 21">
            <a:extLst>
              <a:ext uri="{FF2B5EF4-FFF2-40B4-BE49-F238E27FC236}">
                <a16:creationId xmlns:a16="http://schemas.microsoft.com/office/drawing/2014/main" id="{67DCBB2F-3303-47B5-A28A-6A024893C058}"/>
              </a:ext>
            </a:extLst>
          </p:cNvPr>
          <p:cNvSpPr txBox="1"/>
          <p:nvPr/>
        </p:nvSpPr>
        <p:spPr>
          <a:xfrm>
            <a:off x="4627932" y="2191578"/>
            <a:ext cx="2574464" cy="1754326"/>
          </a:xfrm>
          <a:prstGeom prst="rect">
            <a:avLst/>
          </a:prstGeom>
          <a:noFill/>
        </p:spPr>
        <p:txBody>
          <a:bodyPr wrap="square">
            <a:spAutoFit/>
          </a:bodyPr>
          <a:lstStyle/>
          <a:p>
            <a:pPr algn="ctr"/>
            <a:r>
              <a:rPr lang="en-GB" b="1" u="sng" dirty="0"/>
              <a:t>Maximise Operational Efficiency</a:t>
            </a:r>
          </a:p>
          <a:p>
            <a:pPr algn="ctr"/>
            <a:r>
              <a:rPr lang="en-GB" dirty="0"/>
              <a:t>Create a smooth delivery system, enhance kitchen processes, and reduce food waste.</a:t>
            </a:r>
          </a:p>
        </p:txBody>
      </p:sp>
      <p:sp>
        <p:nvSpPr>
          <p:cNvPr id="24" name="TextBox 23">
            <a:extLst>
              <a:ext uri="{FF2B5EF4-FFF2-40B4-BE49-F238E27FC236}">
                <a16:creationId xmlns:a16="http://schemas.microsoft.com/office/drawing/2014/main" id="{61A4223A-1401-46A1-AC01-91B9CE8863E6}"/>
              </a:ext>
            </a:extLst>
          </p:cNvPr>
          <p:cNvSpPr txBox="1"/>
          <p:nvPr/>
        </p:nvSpPr>
        <p:spPr>
          <a:xfrm>
            <a:off x="7386383" y="3091356"/>
            <a:ext cx="2535806" cy="2031325"/>
          </a:xfrm>
          <a:prstGeom prst="rect">
            <a:avLst/>
          </a:prstGeom>
          <a:noFill/>
        </p:spPr>
        <p:txBody>
          <a:bodyPr wrap="square">
            <a:spAutoFit/>
          </a:bodyPr>
          <a:lstStyle/>
          <a:p>
            <a:pPr algn="ctr"/>
            <a:r>
              <a:rPr lang="en-GB" b="1" u="sng" dirty="0"/>
              <a:t>Employee Productivity </a:t>
            </a:r>
          </a:p>
          <a:p>
            <a:pPr algn="ctr"/>
            <a:r>
              <a:rPr lang="en-GB" dirty="0"/>
              <a:t>Increase overall productivity by saving employees the</a:t>
            </a:r>
          </a:p>
          <a:p>
            <a:pPr algn="ctr"/>
            <a:r>
              <a:rPr lang="en-GB" dirty="0"/>
              <a:t>valuable time they would otherwise spend on the lunch procedure.</a:t>
            </a:r>
            <a:endParaRPr lang="en-US" dirty="0"/>
          </a:p>
        </p:txBody>
      </p:sp>
      <p:sp>
        <p:nvSpPr>
          <p:cNvPr id="6" name="Arrow: Pentagon 5">
            <a:extLst>
              <a:ext uri="{FF2B5EF4-FFF2-40B4-BE49-F238E27FC236}">
                <a16:creationId xmlns:a16="http://schemas.microsoft.com/office/drawing/2014/main" id="{06AB8D4E-E658-4CA7-9B9B-3D3F479C2E14}"/>
              </a:ext>
            </a:extLst>
          </p:cNvPr>
          <p:cNvSpPr/>
          <p:nvPr/>
        </p:nvSpPr>
        <p:spPr>
          <a:xfrm>
            <a:off x="-1" y="-12363"/>
            <a:ext cx="7510965" cy="1284400"/>
          </a:xfrm>
          <a:prstGeom prst="homePlate">
            <a:avLst/>
          </a:prstGeom>
          <a:solidFill>
            <a:srgbClr val="E4DA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Chevron 6">
            <a:extLst>
              <a:ext uri="{FF2B5EF4-FFF2-40B4-BE49-F238E27FC236}">
                <a16:creationId xmlns:a16="http://schemas.microsoft.com/office/drawing/2014/main" id="{5121188F-33B1-4789-8765-02069F546304}"/>
              </a:ext>
            </a:extLst>
          </p:cNvPr>
          <p:cNvSpPr/>
          <p:nvPr/>
        </p:nvSpPr>
        <p:spPr>
          <a:xfrm>
            <a:off x="7175685" y="-19443"/>
            <a:ext cx="1286277" cy="1341751"/>
          </a:xfrm>
          <a:prstGeom prst="chevron">
            <a:avLst/>
          </a:prstGeom>
          <a:solidFill>
            <a:srgbClr val="CA6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Arrow: Chevron 18">
            <a:extLst>
              <a:ext uri="{FF2B5EF4-FFF2-40B4-BE49-F238E27FC236}">
                <a16:creationId xmlns:a16="http://schemas.microsoft.com/office/drawing/2014/main" id="{A6FED88E-2E6E-4151-A86A-9C251122F4FE}"/>
              </a:ext>
            </a:extLst>
          </p:cNvPr>
          <p:cNvSpPr/>
          <p:nvPr/>
        </p:nvSpPr>
        <p:spPr>
          <a:xfrm>
            <a:off x="8055056" y="1497"/>
            <a:ext cx="1286277" cy="1341751"/>
          </a:xfrm>
          <a:prstGeom prst="chevron">
            <a:avLst/>
          </a:prstGeom>
          <a:solidFill>
            <a:srgbClr val="CA6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Arrow: Chevron 20">
            <a:extLst>
              <a:ext uri="{FF2B5EF4-FFF2-40B4-BE49-F238E27FC236}">
                <a16:creationId xmlns:a16="http://schemas.microsoft.com/office/drawing/2014/main" id="{A0FA83BB-FDF3-4C1A-9250-23894BC35649}"/>
              </a:ext>
            </a:extLst>
          </p:cNvPr>
          <p:cNvSpPr/>
          <p:nvPr/>
        </p:nvSpPr>
        <p:spPr>
          <a:xfrm>
            <a:off x="8934427" y="22437"/>
            <a:ext cx="1286277" cy="1341751"/>
          </a:xfrm>
          <a:prstGeom prst="chevron">
            <a:avLst/>
          </a:prstGeom>
          <a:solidFill>
            <a:srgbClr val="E4DA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TextBox 25">
            <a:extLst>
              <a:ext uri="{FF2B5EF4-FFF2-40B4-BE49-F238E27FC236}">
                <a16:creationId xmlns:a16="http://schemas.microsoft.com/office/drawing/2014/main" id="{9B2B0A53-FD86-40F4-9A8B-2B09689083BC}"/>
              </a:ext>
            </a:extLst>
          </p:cNvPr>
          <p:cNvSpPr txBox="1"/>
          <p:nvPr/>
        </p:nvSpPr>
        <p:spPr>
          <a:xfrm>
            <a:off x="14773" y="-13255"/>
            <a:ext cx="7211504" cy="1015663"/>
          </a:xfrm>
          <a:prstGeom prst="rect">
            <a:avLst/>
          </a:prstGeom>
          <a:noFill/>
        </p:spPr>
        <p:txBody>
          <a:bodyPr wrap="square">
            <a:spAutoFit/>
          </a:bodyPr>
          <a:lstStyle/>
          <a:p>
            <a:r>
              <a:rPr lang="en-US" sz="6000" b="1" dirty="0"/>
              <a:t>Business Objective</a:t>
            </a:r>
          </a:p>
        </p:txBody>
      </p:sp>
    </p:spTree>
    <p:extLst>
      <p:ext uri="{BB962C8B-B14F-4D97-AF65-F5344CB8AC3E}">
        <p14:creationId xmlns:p14="http://schemas.microsoft.com/office/powerpoint/2010/main" val="25632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F069D2B-9D30-48F3-8F1B-EDAA2BCDD2A8}"/>
              </a:ext>
            </a:extLst>
          </p:cNvPr>
          <p:cNvCxnSpPr>
            <a:cxnSpLocks/>
          </p:cNvCxnSpPr>
          <p:nvPr/>
        </p:nvCxnSpPr>
        <p:spPr>
          <a:xfrm>
            <a:off x="1337793" y="28280"/>
            <a:ext cx="10789920" cy="0"/>
          </a:xfrm>
          <a:prstGeom prst="line">
            <a:avLst/>
          </a:prstGeom>
          <a:ln w="57150">
            <a:solidFill>
              <a:srgbClr val="E9374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4566110-E352-4B5B-90A4-8ABD375F5247}"/>
              </a:ext>
            </a:extLst>
          </p:cNvPr>
          <p:cNvCxnSpPr>
            <a:cxnSpLocks/>
          </p:cNvCxnSpPr>
          <p:nvPr/>
        </p:nvCxnSpPr>
        <p:spPr>
          <a:xfrm>
            <a:off x="1337793" y="914400"/>
            <a:ext cx="10789920" cy="0"/>
          </a:xfrm>
          <a:prstGeom prst="line">
            <a:avLst/>
          </a:prstGeom>
          <a:ln w="57150">
            <a:solidFill>
              <a:srgbClr val="E93749"/>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D67D717C-9FF4-4D82-A30A-1EBA17782207}"/>
              </a:ext>
            </a:extLst>
          </p:cNvPr>
          <p:cNvGrpSpPr/>
          <p:nvPr/>
        </p:nvGrpSpPr>
        <p:grpSpPr>
          <a:xfrm>
            <a:off x="6321366" y="1491199"/>
            <a:ext cx="5870634" cy="3733541"/>
            <a:chOff x="5730238" y="-47134"/>
            <a:chExt cx="6294581" cy="4188757"/>
          </a:xfrm>
        </p:grpSpPr>
        <p:pic>
          <p:nvPicPr>
            <p:cNvPr id="14" name="Picture 13" descr="A cell phone with a blank screen&#10;&#10;Description automatically generated">
              <a:extLst>
                <a:ext uri="{FF2B5EF4-FFF2-40B4-BE49-F238E27FC236}">
                  <a16:creationId xmlns:a16="http://schemas.microsoft.com/office/drawing/2014/main" id="{4C6F9A5C-3BB9-41B6-B719-6976F8D6BF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0238" y="-47134"/>
              <a:ext cx="6294581" cy="4188757"/>
            </a:xfrm>
            <a:prstGeom prst="rect">
              <a:avLst/>
            </a:prstGeom>
          </p:spPr>
        </p:pic>
        <p:pic>
          <p:nvPicPr>
            <p:cNvPr id="15" name="Picture 14" descr="A bowl of rice with eggs and green onions&#10;&#10;Description automatically generated">
              <a:extLst>
                <a:ext uri="{FF2B5EF4-FFF2-40B4-BE49-F238E27FC236}">
                  <a16:creationId xmlns:a16="http://schemas.microsoft.com/office/drawing/2014/main" id="{372394F4-9FFD-4BF3-95F3-0F572D5AC4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0559" y="2285115"/>
              <a:ext cx="1239202" cy="1307024"/>
            </a:xfrm>
            <a:prstGeom prst="rect">
              <a:avLst/>
            </a:prstGeom>
          </p:spPr>
        </p:pic>
        <p:cxnSp>
          <p:nvCxnSpPr>
            <p:cNvPr id="16" name="Straight Connector 15">
              <a:extLst>
                <a:ext uri="{FF2B5EF4-FFF2-40B4-BE49-F238E27FC236}">
                  <a16:creationId xmlns:a16="http://schemas.microsoft.com/office/drawing/2014/main" id="{A485DCEA-9B51-4714-9C15-E8DB4B4F56A9}"/>
                </a:ext>
              </a:extLst>
            </p:cNvPr>
            <p:cNvCxnSpPr>
              <a:cxnSpLocks/>
            </p:cNvCxnSpPr>
            <p:nvPr/>
          </p:nvCxnSpPr>
          <p:spPr>
            <a:xfrm>
              <a:off x="8170100" y="2068897"/>
              <a:ext cx="1414859" cy="0"/>
            </a:xfrm>
            <a:prstGeom prst="line">
              <a:avLst/>
            </a:prstGeom>
            <a:ln w="76200">
              <a:solidFill>
                <a:srgbClr val="6A6A6A"/>
              </a:solidFill>
            </a:ln>
          </p:spPr>
          <p:style>
            <a:lnRef idx="1">
              <a:schemeClr val="dk1"/>
            </a:lnRef>
            <a:fillRef idx="0">
              <a:schemeClr val="dk1"/>
            </a:fillRef>
            <a:effectRef idx="0">
              <a:schemeClr val="dk1"/>
            </a:effectRef>
            <a:fontRef idx="minor">
              <a:schemeClr val="tx1"/>
            </a:fontRef>
          </p:style>
        </p:cxnSp>
        <p:pic>
          <p:nvPicPr>
            <p:cNvPr id="17" name="Picture 16" descr="A bowl of rice and meat&#10;&#10;Description automatically generated">
              <a:extLst>
                <a:ext uri="{FF2B5EF4-FFF2-40B4-BE49-F238E27FC236}">
                  <a16:creationId xmlns:a16="http://schemas.microsoft.com/office/drawing/2014/main" id="{1EDE483C-FD65-4D0C-9EB8-6976859C77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70559" y="721587"/>
              <a:ext cx="1239202" cy="1239202"/>
            </a:xfrm>
            <a:prstGeom prst="rect">
              <a:avLst/>
            </a:prstGeom>
          </p:spPr>
        </p:pic>
      </p:grpSp>
      <p:sp>
        <p:nvSpPr>
          <p:cNvPr id="19" name="Title 4">
            <a:extLst>
              <a:ext uri="{FF2B5EF4-FFF2-40B4-BE49-F238E27FC236}">
                <a16:creationId xmlns:a16="http://schemas.microsoft.com/office/drawing/2014/main" id="{9E3C98AF-1575-4580-8B00-6A0DB6997B7C}"/>
              </a:ext>
            </a:extLst>
          </p:cNvPr>
          <p:cNvSpPr>
            <a:spLocks noGrp="1"/>
          </p:cNvSpPr>
          <p:nvPr>
            <p:ph type="title"/>
          </p:nvPr>
        </p:nvSpPr>
        <p:spPr>
          <a:xfrm>
            <a:off x="1337793" y="150320"/>
            <a:ext cx="7981857" cy="634147"/>
          </a:xfrm>
        </p:spPr>
        <p:txBody>
          <a:bodyPr>
            <a:noAutofit/>
          </a:bodyPr>
          <a:lstStyle/>
          <a:p>
            <a:r>
              <a:rPr lang="en-US" sz="6000" b="1" dirty="0">
                <a:latin typeface="+mn-lt"/>
              </a:rPr>
              <a:t>Future Enhancement</a:t>
            </a:r>
          </a:p>
        </p:txBody>
      </p:sp>
      <p:sp>
        <p:nvSpPr>
          <p:cNvPr id="20" name="Content Placeholder 5">
            <a:extLst>
              <a:ext uri="{FF2B5EF4-FFF2-40B4-BE49-F238E27FC236}">
                <a16:creationId xmlns:a16="http://schemas.microsoft.com/office/drawing/2014/main" id="{A41E567A-CA10-4E89-8C8A-882991C82BE2}"/>
              </a:ext>
            </a:extLst>
          </p:cNvPr>
          <p:cNvSpPr>
            <a:spLocks noGrp="1"/>
          </p:cNvSpPr>
          <p:nvPr>
            <p:ph idx="1"/>
          </p:nvPr>
        </p:nvSpPr>
        <p:spPr>
          <a:xfrm>
            <a:off x="1615893" y="1916639"/>
            <a:ext cx="8713879" cy="634148"/>
          </a:xfrm>
        </p:spPr>
        <p:txBody>
          <a:bodyPr>
            <a:normAutofit/>
          </a:bodyPr>
          <a:lstStyle/>
          <a:p>
            <a:pPr marL="0" indent="0">
              <a:buNone/>
            </a:pPr>
            <a:r>
              <a:rPr lang="en-US" sz="2400" dirty="0">
                <a:latin typeface="Lato" panose="020F0502020204030203" pitchFamily="34" charset="0"/>
              </a:rPr>
              <a:t>More Interactive and attractive user interface.</a:t>
            </a:r>
          </a:p>
        </p:txBody>
      </p:sp>
      <p:pic>
        <p:nvPicPr>
          <p:cNvPr id="22" name="Graphic 21" descr="Ui Ux with solid fill">
            <a:extLst>
              <a:ext uri="{FF2B5EF4-FFF2-40B4-BE49-F238E27FC236}">
                <a16:creationId xmlns:a16="http://schemas.microsoft.com/office/drawing/2014/main" id="{78E944A3-97D1-4654-BD4C-A5ADF267D29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7371" y="1704618"/>
            <a:ext cx="914400" cy="914400"/>
          </a:xfrm>
          <a:prstGeom prst="rect">
            <a:avLst/>
          </a:prstGeom>
        </p:spPr>
      </p:pic>
      <p:sp>
        <p:nvSpPr>
          <p:cNvPr id="23" name="Content Placeholder 5">
            <a:extLst>
              <a:ext uri="{FF2B5EF4-FFF2-40B4-BE49-F238E27FC236}">
                <a16:creationId xmlns:a16="http://schemas.microsoft.com/office/drawing/2014/main" id="{A502D7C2-20D6-4526-9532-F534A6511836}"/>
              </a:ext>
            </a:extLst>
          </p:cNvPr>
          <p:cNvSpPr txBox="1">
            <a:spLocks/>
          </p:cNvSpPr>
          <p:nvPr/>
        </p:nvSpPr>
        <p:spPr>
          <a:xfrm>
            <a:off x="1615894" y="2831038"/>
            <a:ext cx="6396890" cy="30095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Lato" panose="020F0502020204030203" pitchFamily="34" charset="0"/>
              </a:rPr>
              <a:t>Flexible Payment should staff exceed their salary before month end.</a:t>
            </a:r>
          </a:p>
        </p:txBody>
      </p:sp>
      <p:pic>
        <p:nvPicPr>
          <p:cNvPr id="25" name="Graphic 24" descr="Money outline">
            <a:extLst>
              <a:ext uri="{FF2B5EF4-FFF2-40B4-BE49-F238E27FC236}">
                <a16:creationId xmlns:a16="http://schemas.microsoft.com/office/drawing/2014/main" id="{A6442F3E-49C0-43FB-AE1A-F35580A21C3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37371" y="2766076"/>
            <a:ext cx="914400" cy="914400"/>
          </a:xfrm>
          <a:prstGeom prst="rect">
            <a:avLst/>
          </a:prstGeom>
        </p:spPr>
      </p:pic>
      <p:sp>
        <p:nvSpPr>
          <p:cNvPr id="26" name="Content Placeholder 5">
            <a:extLst>
              <a:ext uri="{FF2B5EF4-FFF2-40B4-BE49-F238E27FC236}">
                <a16:creationId xmlns:a16="http://schemas.microsoft.com/office/drawing/2014/main" id="{95B86608-33A5-4CF8-97C5-D6DC1D2A31CC}"/>
              </a:ext>
            </a:extLst>
          </p:cNvPr>
          <p:cNvSpPr txBox="1">
            <a:spLocks/>
          </p:cNvSpPr>
          <p:nvPr/>
        </p:nvSpPr>
        <p:spPr>
          <a:xfrm>
            <a:off x="1615893" y="3996020"/>
            <a:ext cx="8713879" cy="30095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Lato" panose="020F0502020204030203" pitchFamily="34" charset="0"/>
              </a:rPr>
              <a:t>Table Reservation.</a:t>
            </a:r>
          </a:p>
          <a:p>
            <a:pPr marL="0" indent="0">
              <a:buNone/>
            </a:pPr>
            <a:r>
              <a:rPr lang="en-US" sz="2400" dirty="0"/>
              <a:t>​</a:t>
            </a:r>
          </a:p>
        </p:txBody>
      </p:sp>
      <p:pic>
        <p:nvPicPr>
          <p:cNvPr id="28" name="Graphic 27" descr="Table and chairs with solid fill">
            <a:extLst>
              <a:ext uri="{FF2B5EF4-FFF2-40B4-BE49-F238E27FC236}">
                <a16:creationId xmlns:a16="http://schemas.microsoft.com/office/drawing/2014/main" id="{F59BEA07-83F3-4BA9-839B-F57CD0B2318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37371" y="3747848"/>
            <a:ext cx="914400" cy="914400"/>
          </a:xfrm>
          <a:prstGeom prst="rect">
            <a:avLst/>
          </a:prstGeom>
        </p:spPr>
      </p:pic>
      <p:sp>
        <p:nvSpPr>
          <p:cNvPr id="31" name="Content Placeholder 5">
            <a:extLst>
              <a:ext uri="{FF2B5EF4-FFF2-40B4-BE49-F238E27FC236}">
                <a16:creationId xmlns:a16="http://schemas.microsoft.com/office/drawing/2014/main" id="{7AEF1EEB-D7A6-48BA-8C80-49FD8A43D152}"/>
              </a:ext>
            </a:extLst>
          </p:cNvPr>
          <p:cNvSpPr txBox="1">
            <a:spLocks/>
          </p:cNvSpPr>
          <p:nvPr/>
        </p:nvSpPr>
        <p:spPr>
          <a:xfrm>
            <a:off x="1615892" y="5021536"/>
            <a:ext cx="8713879" cy="30095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Lato" panose="020F0502020204030203" pitchFamily="34" charset="0"/>
              </a:rPr>
              <a:t>Other activities can be added. </a:t>
            </a:r>
            <a:r>
              <a:rPr lang="en-US" sz="2400" dirty="0"/>
              <a:t>​</a:t>
            </a:r>
          </a:p>
        </p:txBody>
      </p:sp>
      <p:pic>
        <p:nvPicPr>
          <p:cNvPr id="33" name="Graphic 32" descr="Pasta outline">
            <a:extLst>
              <a:ext uri="{FF2B5EF4-FFF2-40B4-BE49-F238E27FC236}">
                <a16:creationId xmlns:a16="http://schemas.microsoft.com/office/drawing/2014/main" id="{2569AB91-961B-4CA4-9191-CEC9D6DA392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37371" y="4701078"/>
            <a:ext cx="914400" cy="914400"/>
          </a:xfrm>
          <a:prstGeom prst="rect">
            <a:avLst/>
          </a:prstGeom>
        </p:spPr>
      </p:pic>
      <p:sp>
        <p:nvSpPr>
          <p:cNvPr id="24" name="Rectangle 23">
            <a:extLst>
              <a:ext uri="{FF2B5EF4-FFF2-40B4-BE49-F238E27FC236}">
                <a16:creationId xmlns:a16="http://schemas.microsoft.com/office/drawing/2014/main" id="{3D664BD9-1C72-4C9A-8537-CF845CBA8390}"/>
              </a:ext>
            </a:extLst>
          </p:cNvPr>
          <p:cNvSpPr/>
          <p:nvPr/>
        </p:nvSpPr>
        <p:spPr>
          <a:xfrm>
            <a:off x="1120462" y="0"/>
            <a:ext cx="91440" cy="914400"/>
          </a:xfrm>
          <a:prstGeom prst="rect">
            <a:avLst/>
          </a:prstGeom>
          <a:solidFill>
            <a:srgbClr val="E93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936FC01-8F0D-4837-AADD-7A7A9F57C5D7}"/>
              </a:ext>
            </a:extLst>
          </p:cNvPr>
          <p:cNvSpPr/>
          <p:nvPr/>
        </p:nvSpPr>
        <p:spPr>
          <a:xfrm>
            <a:off x="903131" y="0"/>
            <a:ext cx="91440" cy="914400"/>
          </a:xfrm>
          <a:prstGeom prst="rect">
            <a:avLst/>
          </a:prstGeom>
          <a:solidFill>
            <a:srgbClr val="E93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A1282F1-94BC-4AA5-B5ED-F602AC6B56FA}"/>
              </a:ext>
            </a:extLst>
          </p:cNvPr>
          <p:cNvSpPr/>
          <p:nvPr/>
        </p:nvSpPr>
        <p:spPr>
          <a:xfrm>
            <a:off x="0" y="0"/>
            <a:ext cx="731520" cy="914400"/>
          </a:xfrm>
          <a:prstGeom prst="rect">
            <a:avLst/>
          </a:prstGeom>
          <a:solidFill>
            <a:srgbClr val="E93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7635AA38-68D0-468A-88C5-054D5DA72E12}"/>
              </a:ext>
            </a:extLst>
          </p:cNvPr>
          <p:cNvSpPr/>
          <p:nvPr/>
        </p:nvSpPr>
        <p:spPr>
          <a:xfrm>
            <a:off x="1337793" y="0"/>
            <a:ext cx="91440" cy="914400"/>
          </a:xfrm>
          <a:prstGeom prst="rect">
            <a:avLst/>
          </a:prstGeom>
          <a:solidFill>
            <a:srgbClr val="E9374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Connector 34">
            <a:extLst>
              <a:ext uri="{FF2B5EF4-FFF2-40B4-BE49-F238E27FC236}">
                <a16:creationId xmlns:a16="http://schemas.microsoft.com/office/drawing/2014/main" id="{6D9605AA-89C4-49B2-8C84-813EDB086EEF}"/>
              </a:ext>
            </a:extLst>
          </p:cNvPr>
          <p:cNvCxnSpPr>
            <a:cxnSpLocks/>
            <a:endCxn id="30" idx="2"/>
          </p:cNvCxnSpPr>
          <p:nvPr/>
        </p:nvCxnSpPr>
        <p:spPr>
          <a:xfrm>
            <a:off x="0" y="914400"/>
            <a:ext cx="1383513" cy="0"/>
          </a:xfrm>
          <a:prstGeom prst="line">
            <a:avLst/>
          </a:prstGeom>
          <a:ln w="57150">
            <a:solidFill>
              <a:srgbClr val="E9374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BFDD15F-949F-432B-B878-F90B0A3F5B06}"/>
              </a:ext>
            </a:extLst>
          </p:cNvPr>
          <p:cNvCxnSpPr>
            <a:cxnSpLocks/>
          </p:cNvCxnSpPr>
          <p:nvPr/>
        </p:nvCxnSpPr>
        <p:spPr>
          <a:xfrm>
            <a:off x="39763" y="20424"/>
            <a:ext cx="1383513" cy="0"/>
          </a:xfrm>
          <a:prstGeom prst="line">
            <a:avLst/>
          </a:prstGeom>
          <a:ln w="57150">
            <a:solidFill>
              <a:srgbClr val="E937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8234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9FBAEBE-BC86-4237-8923-BA252C9BCAE8}"/>
              </a:ext>
            </a:extLst>
          </p:cNvPr>
          <p:cNvSpPr/>
          <p:nvPr/>
        </p:nvSpPr>
        <p:spPr>
          <a:xfrm>
            <a:off x="623385" y="1973773"/>
            <a:ext cx="2377440" cy="3840480"/>
          </a:xfrm>
          <a:prstGeom prst="roundRect">
            <a:avLst/>
          </a:prstGeom>
          <a:solidFill>
            <a:srgbClr val="96D1B9"/>
          </a:solidFill>
          <a:ln w="19050">
            <a:solidFill>
              <a:srgbClr val="EB9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a:p>
            <a:pPr algn="ctr"/>
            <a:endParaRPr lang="en-GB" dirty="0">
              <a:solidFill>
                <a:schemeClr val="tx1"/>
              </a:solidFill>
            </a:endParaRPr>
          </a:p>
          <a:p>
            <a:pPr algn="ctr"/>
            <a:endParaRPr lang="en-GB" dirty="0">
              <a:solidFill>
                <a:schemeClr val="tx1"/>
              </a:solidFill>
            </a:endParaRPr>
          </a:p>
          <a:p>
            <a:pPr algn="ctr"/>
            <a:r>
              <a:rPr lang="en-GB" dirty="0">
                <a:solidFill>
                  <a:schemeClr val="tx1"/>
                </a:solidFill>
              </a:rPr>
              <a:t>With a streamlined ordering process and effective meal delivery, employees will spend less time on lunch-related duties.</a:t>
            </a:r>
          </a:p>
          <a:p>
            <a:pPr algn="ctr"/>
            <a:endParaRPr lang="en-US" dirty="0">
              <a:solidFill>
                <a:schemeClr val="tx1"/>
              </a:solidFill>
            </a:endParaRPr>
          </a:p>
        </p:txBody>
      </p:sp>
      <p:sp>
        <p:nvSpPr>
          <p:cNvPr id="8" name="Rectangle: Rounded Corners 7">
            <a:extLst>
              <a:ext uri="{FF2B5EF4-FFF2-40B4-BE49-F238E27FC236}">
                <a16:creationId xmlns:a16="http://schemas.microsoft.com/office/drawing/2014/main" id="{A0413017-AF5B-48EA-995E-C5182D8F1A15}"/>
              </a:ext>
            </a:extLst>
          </p:cNvPr>
          <p:cNvSpPr/>
          <p:nvPr/>
        </p:nvSpPr>
        <p:spPr>
          <a:xfrm>
            <a:off x="3480336" y="1977071"/>
            <a:ext cx="2377440" cy="3840480"/>
          </a:xfrm>
          <a:prstGeom prst="roundRect">
            <a:avLst/>
          </a:prstGeom>
          <a:solidFill>
            <a:srgbClr val="F4FDEC"/>
          </a:solidFill>
          <a:ln w="19050">
            <a:solidFill>
              <a:srgbClr val="EB9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a:p>
            <a:pPr algn="ctr"/>
            <a:endParaRPr lang="en-GB" dirty="0">
              <a:solidFill>
                <a:schemeClr val="tx1"/>
              </a:solidFill>
            </a:endParaRPr>
          </a:p>
          <a:p>
            <a:pPr algn="ctr"/>
            <a:endParaRPr lang="en-GB" dirty="0">
              <a:solidFill>
                <a:schemeClr val="tx1"/>
              </a:solidFill>
            </a:endParaRPr>
          </a:p>
          <a:p>
            <a:pPr algn="ctr"/>
            <a:endParaRPr lang="en-GB" dirty="0">
              <a:solidFill>
                <a:schemeClr val="tx1"/>
              </a:solidFill>
            </a:endParaRPr>
          </a:p>
          <a:p>
            <a:pPr algn="ctr"/>
            <a:r>
              <a:rPr lang="en-GB" dirty="0">
                <a:solidFill>
                  <a:schemeClr val="tx1"/>
                </a:solidFill>
              </a:rPr>
              <a:t>The new system will give staff members access to a large menu, guaranteeing a greater variety of food options and lowering discontent brought on by shortages.</a:t>
            </a:r>
          </a:p>
        </p:txBody>
      </p:sp>
      <p:sp>
        <p:nvSpPr>
          <p:cNvPr id="9" name="Rectangle: Rounded Corners 8">
            <a:extLst>
              <a:ext uri="{FF2B5EF4-FFF2-40B4-BE49-F238E27FC236}">
                <a16:creationId xmlns:a16="http://schemas.microsoft.com/office/drawing/2014/main" id="{8D2A9486-D1FF-428E-AD46-F81900C402C7}"/>
              </a:ext>
            </a:extLst>
          </p:cNvPr>
          <p:cNvSpPr/>
          <p:nvPr/>
        </p:nvSpPr>
        <p:spPr>
          <a:xfrm>
            <a:off x="6337287" y="1973773"/>
            <a:ext cx="2377440" cy="3840480"/>
          </a:xfrm>
          <a:prstGeom prst="roundRect">
            <a:avLst/>
          </a:prstGeom>
          <a:solidFill>
            <a:srgbClr val="A4C5F3"/>
          </a:solidFill>
          <a:ln w="19050">
            <a:solidFill>
              <a:srgbClr val="EB9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a:p>
            <a:pPr algn="ctr"/>
            <a:endParaRPr lang="en-GB" dirty="0">
              <a:solidFill>
                <a:schemeClr val="tx1"/>
              </a:solidFill>
            </a:endParaRPr>
          </a:p>
          <a:p>
            <a:pPr algn="ctr"/>
            <a:endParaRPr lang="en-GB" dirty="0">
              <a:solidFill>
                <a:schemeClr val="tx1"/>
              </a:solidFill>
            </a:endParaRPr>
          </a:p>
          <a:p>
            <a:pPr algn="ctr"/>
            <a:endParaRPr lang="en-GB" dirty="0">
              <a:solidFill>
                <a:schemeClr val="tx1"/>
              </a:solidFill>
            </a:endParaRPr>
          </a:p>
          <a:p>
            <a:pPr algn="ctr"/>
            <a:r>
              <a:rPr lang="en-GB" dirty="0">
                <a:solidFill>
                  <a:schemeClr val="tx1"/>
                </a:solidFill>
              </a:rPr>
              <a:t>The system will greatly reduce the quantity of food wasted by matching the demand with the actual orders, which will benefit the organizations finances as well as the environment.</a:t>
            </a:r>
          </a:p>
          <a:p>
            <a:pPr algn="ctr"/>
            <a:endParaRPr lang="en-US" dirty="0"/>
          </a:p>
        </p:txBody>
      </p:sp>
      <p:sp>
        <p:nvSpPr>
          <p:cNvPr id="10" name="Rectangle: Rounded Corners 9">
            <a:extLst>
              <a:ext uri="{FF2B5EF4-FFF2-40B4-BE49-F238E27FC236}">
                <a16:creationId xmlns:a16="http://schemas.microsoft.com/office/drawing/2014/main" id="{8962BBBB-FFCF-4EEB-A547-E691BCC8E0CE}"/>
              </a:ext>
            </a:extLst>
          </p:cNvPr>
          <p:cNvSpPr/>
          <p:nvPr/>
        </p:nvSpPr>
        <p:spPr>
          <a:xfrm>
            <a:off x="9194238" y="1907785"/>
            <a:ext cx="2377440" cy="3840480"/>
          </a:xfrm>
          <a:prstGeom prst="roundRect">
            <a:avLst/>
          </a:prstGeom>
          <a:solidFill>
            <a:srgbClr val="EBD7A7"/>
          </a:solidFill>
          <a:ln w="19050">
            <a:solidFill>
              <a:srgbClr val="EB9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p>
          <a:p>
            <a:endParaRPr lang="en-GB" dirty="0"/>
          </a:p>
          <a:p>
            <a:endParaRPr lang="en-GB" dirty="0"/>
          </a:p>
          <a:p>
            <a:endParaRPr lang="en-GB" dirty="0"/>
          </a:p>
          <a:p>
            <a:r>
              <a:rPr lang="en-GB" dirty="0"/>
              <a:t>Having more control over meal selections and having a more enjoyable lunch experience may raise employee satisfaction, which may improve staff retention.</a:t>
            </a:r>
            <a:endParaRPr lang="en-US" dirty="0"/>
          </a:p>
        </p:txBody>
      </p:sp>
      <p:sp>
        <p:nvSpPr>
          <p:cNvPr id="12" name="Rectangle 11">
            <a:extLst>
              <a:ext uri="{FF2B5EF4-FFF2-40B4-BE49-F238E27FC236}">
                <a16:creationId xmlns:a16="http://schemas.microsoft.com/office/drawing/2014/main" id="{7CE9B4FF-FD73-461C-8E9D-102619E0FBA6}"/>
              </a:ext>
            </a:extLst>
          </p:cNvPr>
          <p:cNvSpPr/>
          <p:nvPr/>
        </p:nvSpPr>
        <p:spPr>
          <a:xfrm>
            <a:off x="623385" y="2225468"/>
            <a:ext cx="2377440" cy="735291"/>
          </a:xfrm>
          <a:prstGeom prst="rect">
            <a:avLst/>
          </a:prstGeom>
          <a:solidFill>
            <a:schemeClr val="bg1"/>
          </a:solidFill>
          <a:ln>
            <a:solidFill>
              <a:srgbClr val="EB9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tx1"/>
                </a:solidFill>
              </a:rPr>
              <a:t>Time Efficiency</a:t>
            </a:r>
            <a:endParaRPr lang="en-US" sz="2000" b="1" dirty="0">
              <a:solidFill>
                <a:schemeClr val="tx1"/>
              </a:solidFill>
            </a:endParaRPr>
          </a:p>
        </p:txBody>
      </p:sp>
      <p:sp>
        <p:nvSpPr>
          <p:cNvPr id="13" name="Rectangle 12">
            <a:extLst>
              <a:ext uri="{FF2B5EF4-FFF2-40B4-BE49-F238E27FC236}">
                <a16:creationId xmlns:a16="http://schemas.microsoft.com/office/drawing/2014/main" id="{198079E7-1B6C-48BC-BE65-127C6B57016E}"/>
              </a:ext>
            </a:extLst>
          </p:cNvPr>
          <p:cNvSpPr/>
          <p:nvPr/>
        </p:nvSpPr>
        <p:spPr>
          <a:xfrm>
            <a:off x="3480336" y="2225467"/>
            <a:ext cx="2377440" cy="735291"/>
          </a:xfrm>
          <a:prstGeom prst="rect">
            <a:avLst/>
          </a:prstGeom>
          <a:solidFill>
            <a:schemeClr val="bg1"/>
          </a:solidFill>
          <a:ln>
            <a:solidFill>
              <a:srgbClr val="EB9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Better Food Options</a:t>
            </a:r>
            <a:endParaRPr lang="en-US" b="1" dirty="0"/>
          </a:p>
        </p:txBody>
      </p:sp>
      <p:sp>
        <p:nvSpPr>
          <p:cNvPr id="14" name="Rectangle 13">
            <a:extLst>
              <a:ext uri="{FF2B5EF4-FFF2-40B4-BE49-F238E27FC236}">
                <a16:creationId xmlns:a16="http://schemas.microsoft.com/office/drawing/2014/main" id="{49C4AEB9-033F-4573-8E0E-6CE13CD2CD9C}"/>
              </a:ext>
            </a:extLst>
          </p:cNvPr>
          <p:cNvSpPr/>
          <p:nvPr/>
        </p:nvSpPr>
        <p:spPr>
          <a:xfrm>
            <a:off x="6337287" y="2225466"/>
            <a:ext cx="2377440" cy="735291"/>
          </a:xfrm>
          <a:prstGeom prst="rect">
            <a:avLst/>
          </a:prstGeom>
          <a:solidFill>
            <a:schemeClr val="bg1"/>
          </a:solidFill>
          <a:ln>
            <a:solidFill>
              <a:srgbClr val="EB9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Less Food Wastage </a:t>
            </a:r>
          </a:p>
        </p:txBody>
      </p:sp>
      <p:sp>
        <p:nvSpPr>
          <p:cNvPr id="15" name="Rectangle 14">
            <a:extLst>
              <a:ext uri="{FF2B5EF4-FFF2-40B4-BE49-F238E27FC236}">
                <a16:creationId xmlns:a16="http://schemas.microsoft.com/office/drawing/2014/main" id="{5081B0BB-8933-43B3-8F43-E77375198A63}"/>
              </a:ext>
            </a:extLst>
          </p:cNvPr>
          <p:cNvSpPr/>
          <p:nvPr/>
        </p:nvSpPr>
        <p:spPr>
          <a:xfrm>
            <a:off x="9194238" y="2225465"/>
            <a:ext cx="2377440" cy="735291"/>
          </a:xfrm>
          <a:prstGeom prst="rect">
            <a:avLst/>
          </a:prstGeom>
          <a:solidFill>
            <a:schemeClr val="bg1"/>
          </a:solidFill>
          <a:ln>
            <a:solidFill>
              <a:srgbClr val="EB9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Employee Satisfaction and Retention</a:t>
            </a:r>
            <a:endParaRPr lang="en-US" b="1" dirty="0">
              <a:solidFill>
                <a:schemeClr val="tx1"/>
              </a:solidFill>
            </a:endParaRPr>
          </a:p>
        </p:txBody>
      </p:sp>
      <p:sp>
        <p:nvSpPr>
          <p:cNvPr id="3" name="Rectangle 2">
            <a:extLst>
              <a:ext uri="{FF2B5EF4-FFF2-40B4-BE49-F238E27FC236}">
                <a16:creationId xmlns:a16="http://schemas.microsoft.com/office/drawing/2014/main" id="{18D99633-62AE-4731-854A-3A864F43D057}"/>
              </a:ext>
            </a:extLst>
          </p:cNvPr>
          <p:cNvSpPr/>
          <p:nvPr/>
        </p:nvSpPr>
        <p:spPr>
          <a:xfrm>
            <a:off x="6094428" y="5999958"/>
            <a:ext cx="6097569" cy="858042"/>
          </a:xfrm>
          <a:custGeom>
            <a:avLst/>
            <a:gdLst>
              <a:gd name="connsiteX0" fmla="*/ 0 w 4227871"/>
              <a:gd name="connsiteY0" fmla="*/ 0 h 1018197"/>
              <a:gd name="connsiteX1" fmla="*/ 4227871 w 4227871"/>
              <a:gd name="connsiteY1" fmla="*/ 0 h 1018197"/>
              <a:gd name="connsiteX2" fmla="*/ 4227871 w 4227871"/>
              <a:gd name="connsiteY2" fmla="*/ 1018197 h 1018197"/>
              <a:gd name="connsiteX3" fmla="*/ 0 w 4227871"/>
              <a:gd name="connsiteY3" fmla="*/ 1018197 h 1018197"/>
              <a:gd name="connsiteX4" fmla="*/ 0 w 4227871"/>
              <a:gd name="connsiteY4" fmla="*/ 0 h 1018197"/>
              <a:gd name="connsiteX0" fmla="*/ 19665 w 4227871"/>
              <a:gd name="connsiteY0" fmla="*/ 0 h 1057526"/>
              <a:gd name="connsiteX1" fmla="*/ 4227871 w 4227871"/>
              <a:gd name="connsiteY1" fmla="*/ 39329 h 1057526"/>
              <a:gd name="connsiteX2" fmla="*/ 4227871 w 4227871"/>
              <a:gd name="connsiteY2" fmla="*/ 1057526 h 1057526"/>
              <a:gd name="connsiteX3" fmla="*/ 0 w 4227871"/>
              <a:gd name="connsiteY3" fmla="*/ 1057526 h 1057526"/>
              <a:gd name="connsiteX4" fmla="*/ 19665 w 4227871"/>
              <a:gd name="connsiteY4" fmla="*/ 0 h 1057526"/>
              <a:gd name="connsiteX0" fmla="*/ 1219200 w 5427406"/>
              <a:gd name="connsiteY0" fmla="*/ 0 h 1096855"/>
              <a:gd name="connsiteX1" fmla="*/ 5427406 w 5427406"/>
              <a:gd name="connsiteY1" fmla="*/ 39329 h 1096855"/>
              <a:gd name="connsiteX2" fmla="*/ 5427406 w 5427406"/>
              <a:gd name="connsiteY2" fmla="*/ 1057526 h 1096855"/>
              <a:gd name="connsiteX3" fmla="*/ 0 w 5427406"/>
              <a:gd name="connsiteY3" fmla="*/ 1096855 h 1096855"/>
              <a:gd name="connsiteX4" fmla="*/ 1219200 w 5427406"/>
              <a:gd name="connsiteY4" fmla="*/ 0 h 1096855"/>
              <a:gd name="connsiteX0" fmla="*/ 1219200 w 5427406"/>
              <a:gd name="connsiteY0" fmla="*/ 0 h 1096855"/>
              <a:gd name="connsiteX1" fmla="*/ 5427406 w 5427406"/>
              <a:gd name="connsiteY1" fmla="*/ 39329 h 1096855"/>
              <a:gd name="connsiteX2" fmla="*/ 5427406 w 5427406"/>
              <a:gd name="connsiteY2" fmla="*/ 1057526 h 1096855"/>
              <a:gd name="connsiteX3" fmla="*/ 0 w 5427406"/>
              <a:gd name="connsiteY3" fmla="*/ 1096855 h 1096855"/>
              <a:gd name="connsiteX4" fmla="*/ 1219200 w 5427406"/>
              <a:gd name="connsiteY4" fmla="*/ 0 h 1096855"/>
              <a:gd name="connsiteX0" fmla="*/ 1248697 w 5427406"/>
              <a:gd name="connsiteY0" fmla="*/ 0 h 1106687"/>
              <a:gd name="connsiteX1" fmla="*/ 5427406 w 5427406"/>
              <a:gd name="connsiteY1" fmla="*/ 49161 h 1106687"/>
              <a:gd name="connsiteX2" fmla="*/ 5427406 w 5427406"/>
              <a:gd name="connsiteY2" fmla="*/ 1067358 h 1106687"/>
              <a:gd name="connsiteX3" fmla="*/ 0 w 5427406"/>
              <a:gd name="connsiteY3" fmla="*/ 1106687 h 1106687"/>
              <a:gd name="connsiteX4" fmla="*/ 1248697 w 5427406"/>
              <a:gd name="connsiteY4" fmla="*/ 0 h 1106687"/>
              <a:gd name="connsiteX0" fmla="*/ 1248697 w 5427406"/>
              <a:gd name="connsiteY0" fmla="*/ 0 h 1106687"/>
              <a:gd name="connsiteX1" fmla="*/ 5427406 w 5427406"/>
              <a:gd name="connsiteY1" fmla="*/ 49161 h 1106687"/>
              <a:gd name="connsiteX2" fmla="*/ 5427406 w 5427406"/>
              <a:gd name="connsiteY2" fmla="*/ 1067358 h 1106687"/>
              <a:gd name="connsiteX3" fmla="*/ 0 w 5427406"/>
              <a:gd name="connsiteY3" fmla="*/ 1106687 h 1106687"/>
              <a:gd name="connsiteX4" fmla="*/ 1248697 w 5427406"/>
              <a:gd name="connsiteY4" fmla="*/ 0 h 1106687"/>
              <a:gd name="connsiteX0" fmla="*/ 1288026 w 5427406"/>
              <a:gd name="connsiteY0" fmla="*/ 0 h 1106687"/>
              <a:gd name="connsiteX1" fmla="*/ 5427406 w 5427406"/>
              <a:gd name="connsiteY1" fmla="*/ 49161 h 1106687"/>
              <a:gd name="connsiteX2" fmla="*/ 5427406 w 5427406"/>
              <a:gd name="connsiteY2" fmla="*/ 1067358 h 1106687"/>
              <a:gd name="connsiteX3" fmla="*/ 0 w 5427406"/>
              <a:gd name="connsiteY3" fmla="*/ 1106687 h 1106687"/>
              <a:gd name="connsiteX4" fmla="*/ 1288026 w 5427406"/>
              <a:gd name="connsiteY4" fmla="*/ 0 h 1106687"/>
              <a:gd name="connsiteX0" fmla="*/ 1386349 w 5427406"/>
              <a:gd name="connsiteY0" fmla="*/ 0 h 1087022"/>
              <a:gd name="connsiteX1" fmla="*/ 5427406 w 5427406"/>
              <a:gd name="connsiteY1" fmla="*/ 29496 h 1087022"/>
              <a:gd name="connsiteX2" fmla="*/ 5427406 w 5427406"/>
              <a:gd name="connsiteY2" fmla="*/ 1047693 h 1087022"/>
              <a:gd name="connsiteX3" fmla="*/ 0 w 5427406"/>
              <a:gd name="connsiteY3" fmla="*/ 1087022 h 1087022"/>
              <a:gd name="connsiteX4" fmla="*/ 1386349 w 5427406"/>
              <a:gd name="connsiteY4" fmla="*/ 0 h 1087022"/>
              <a:gd name="connsiteX0" fmla="*/ 1386349 w 5427406"/>
              <a:gd name="connsiteY0" fmla="*/ 0 h 1087022"/>
              <a:gd name="connsiteX1" fmla="*/ 5427406 w 5427406"/>
              <a:gd name="connsiteY1" fmla="*/ 29496 h 1087022"/>
              <a:gd name="connsiteX2" fmla="*/ 5427406 w 5427406"/>
              <a:gd name="connsiteY2" fmla="*/ 1047693 h 1087022"/>
              <a:gd name="connsiteX3" fmla="*/ 0 w 5427406"/>
              <a:gd name="connsiteY3" fmla="*/ 1087022 h 1087022"/>
              <a:gd name="connsiteX4" fmla="*/ 1386349 w 5427406"/>
              <a:gd name="connsiteY4" fmla="*/ 0 h 1087022"/>
              <a:gd name="connsiteX0" fmla="*/ 1484672 w 5427406"/>
              <a:gd name="connsiteY0" fmla="*/ 0 h 1146015"/>
              <a:gd name="connsiteX1" fmla="*/ 5427406 w 5427406"/>
              <a:gd name="connsiteY1" fmla="*/ 88489 h 1146015"/>
              <a:gd name="connsiteX2" fmla="*/ 5427406 w 5427406"/>
              <a:gd name="connsiteY2" fmla="*/ 1106686 h 1146015"/>
              <a:gd name="connsiteX3" fmla="*/ 0 w 5427406"/>
              <a:gd name="connsiteY3" fmla="*/ 1146015 h 1146015"/>
              <a:gd name="connsiteX4" fmla="*/ 1484672 w 5427406"/>
              <a:gd name="connsiteY4" fmla="*/ 0 h 1146015"/>
              <a:gd name="connsiteX0" fmla="*/ 1484672 w 5427406"/>
              <a:gd name="connsiteY0" fmla="*/ 18816 h 1164831"/>
              <a:gd name="connsiteX1" fmla="*/ 2467896 w 5427406"/>
              <a:gd name="connsiteY1" fmla="*/ 628973 h 1164831"/>
              <a:gd name="connsiteX2" fmla="*/ 5427406 w 5427406"/>
              <a:gd name="connsiteY2" fmla="*/ 107305 h 1164831"/>
              <a:gd name="connsiteX3" fmla="*/ 5427406 w 5427406"/>
              <a:gd name="connsiteY3" fmla="*/ 1125502 h 1164831"/>
              <a:gd name="connsiteX4" fmla="*/ 0 w 5427406"/>
              <a:gd name="connsiteY4" fmla="*/ 1164831 h 1164831"/>
              <a:gd name="connsiteX5" fmla="*/ 1484672 w 5427406"/>
              <a:gd name="connsiteY5" fmla="*/ 18816 h 1164831"/>
              <a:gd name="connsiteX0" fmla="*/ 1484672 w 5427406"/>
              <a:gd name="connsiteY0" fmla="*/ 41691 h 1187706"/>
              <a:gd name="connsiteX1" fmla="*/ 2467896 w 5427406"/>
              <a:gd name="connsiteY1" fmla="*/ 651848 h 1187706"/>
              <a:gd name="connsiteX2" fmla="*/ 3539612 w 5427406"/>
              <a:gd name="connsiteY2" fmla="*/ 42248 h 1187706"/>
              <a:gd name="connsiteX3" fmla="*/ 5427406 w 5427406"/>
              <a:gd name="connsiteY3" fmla="*/ 130180 h 1187706"/>
              <a:gd name="connsiteX4" fmla="*/ 5427406 w 5427406"/>
              <a:gd name="connsiteY4" fmla="*/ 1148377 h 1187706"/>
              <a:gd name="connsiteX5" fmla="*/ 0 w 5427406"/>
              <a:gd name="connsiteY5" fmla="*/ 1187706 h 1187706"/>
              <a:gd name="connsiteX6" fmla="*/ 1484672 w 5427406"/>
              <a:gd name="connsiteY6" fmla="*/ 41691 h 1187706"/>
              <a:gd name="connsiteX0" fmla="*/ 1484672 w 5427406"/>
              <a:gd name="connsiteY0" fmla="*/ 18817 h 1164832"/>
              <a:gd name="connsiteX1" fmla="*/ 2467896 w 5427406"/>
              <a:gd name="connsiteY1" fmla="*/ 628974 h 1164832"/>
              <a:gd name="connsiteX2" fmla="*/ 3539612 w 5427406"/>
              <a:gd name="connsiteY2" fmla="*/ 19374 h 1164832"/>
              <a:gd name="connsiteX3" fmla="*/ 4896464 w 5427406"/>
              <a:gd name="connsiteY3" fmla="*/ 481490 h 1164832"/>
              <a:gd name="connsiteX4" fmla="*/ 5427406 w 5427406"/>
              <a:gd name="connsiteY4" fmla="*/ 107306 h 1164832"/>
              <a:gd name="connsiteX5" fmla="*/ 5427406 w 5427406"/>
              <a:gd name="connsiteY5" fmla="*/ 1125503 h 1164832"/>
              <a:gd name="connsiteX6" fmla="*/ 0 w 5427406"/>
              <a:gd name="connsiteY6" fmla="*/ 1164832 h 1164832"/>
              <a:gd name="connsiteX7" fmla="*/ 1484672 w 5427406"/>
              <a:gd name="connsiteY7" fmla="*/ 18817 h 1164832"/>
              <a:gd name="connsiteX0" fmla="*/ 1494505 w 5437239"/>
              <a:gd name="connsiteY0" fmla="*/ 18817 h 1125503"/>
              <a:gd name="connsiteX1" fmla="*/ 2477729 w 5437239"/>
              <a:gd name="connsiteY1" fmla="*/ 628974 h 1125503"/>
              <a:gd name="connsiteX2" fmla="*/ 3549445 w 5437239"/>
              <a:gd name="connsiteY2" fmla="*/ 19374 h 1125503"/>
              <a:gd name="connsiteX3" fmla="*/ 4906297 w 5437239"/>
              <a:gd name="connsiteY3" fmla="*/ 481490 h 1125503"/>
              <a:gd name="connsiteX4" fmla="*/ 5437239 w 5437239"/>
              <a:gd name="connsiteY4" fmla="*/ 107306 h 1125503"/>
              <a:gd name="connsiteX5" fmla="*/ 5437239 w 5437239"/>
              <a:gd name="connsiteY5" fmla="*/ 1125503 h 1125503"/>
              <a:gd name="connsiteX6" fmla="*/ 0 w 5437239"/>
              <a:gd name="connsiteY6" fmla="*/ 1105839 h 1125503"/>
              <a:gd name="connsiteX7" fmla="*/ 1494505 w 5437239"/>
              <a:gd name="connsiteY7" fmla="*/ 18817 h 1125503"/>
              <a:gd name="connsiteX0" fmla="*/ 1494505 w 5437239"/>
              <a:gd name="connsiteY0" fmla="*/ 18817 h 1125503"/>
              <a:gd name="connsiteX1" fmla="*/ 2477729 w 5437239"/>
              <a:gd name="connsiteY1" fmla="*/ 628974 h 1125503"/>
              <a:gd name="connsiteX2" fmla="*/ 3549445 w 5437239"/>
              <a:gd name="connsiteY2" fmla="*/ 19374 h 1125503"/>
              <a:gd name="connsiteX3" fmla="*/ 4906297 w 5437239"/>
              <a:gd name="connsiteY3" fmla="*/ 481490 h 1125503"/>
              <a:gd name="connsiteX4" fmla="*/ 5437239 w 5437239"/>
              <a:gd name="connsiteY4" fmla="*/ 107306 h 1125503"/>
              <a:gd name="connsiteX5" fmla="*/ 5437239 w 5437239"/>
              <a:gd name="connsiteY5" fmla="*/ 1125503 h 1125503"/>
              <a:gd name="connsiteX6" fmla="*/ 0 w 5437239"/>
              <a:gd name="connsiteY6" fmla="*/ 1125503 h 1125503"/>
              <a:gd name="connsiteX7" fmla="*/ 1494505 w 5437239"/>
              <a:gd name="connsiteY7" fmla="*/ 18817 h 1125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37239" h="1125503">
                <a:moveTo>
                  <a:pt x="1494505" y="18817"/>
                </a:moveTo>
                <a:cubicBezTo>
                  <a:pt x="1879602" y="-126209"/>
                  <a:pt x="1820607" y="614226"/>
                  <a:pt x="2477729" y="628974"/>
                </a:cubicBezTo>
                <a:cubicBezTo>
                  <a:pt x="2828413" y="694615"/>
                  <a:pt x="3056193" y="106319"/>
                  <a:pt x="3549445" y="19374"/>
                </a:cubicBezTo>
                <a:cubicBezTo>
                  <a:pt x="3903406" y="-90419"/>
                  <a:pt x="4591665" y="466835"/>
                  <a:pt x="4906297" y="481490"/>
                </a:cubicBezTo>
                <a:cubicBezTo>
                  <a:pt x="5220929" y="496145"/>
                  <a:pt x="5297949" y="-85242"/>
                  <a:pt x="5437239" y="107306"/>
                </a:cubicBezTo>
                <a:lnTo>
                  <a:pt x="5437239" y="1125503"/>
                </a:lnTo>
                <a:lnTo>
                  <a:pt x="0" y="1125503"/>
                </a:lnTo>
                <a:cubicBezTo>
                  <a:pt x="1183148" y="838543"/>
                  <a:pt x="970118" y="227119"/>
                  <a:pt x="1494505" y="18817"/>
                </a:cubicBezTo>
                <a:close/>
              </a:path>
            </a:pathLst>
          </a:custGeom>
          <a:solidFill>
            <a:schemeClr val="bg1">
              <a:lumMod val="95000"/>
            </a:schemeClr>
          </a:solidFill>
          <a:ln>
            <a:solidFill>
              <a:srgbClr val="F4FDE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2">
            <a:extLst>
              <a:ext uri="{FF2B5EF4-FFF2-40B4-BE49-F238E27FC236}">
                <a16:creationId xmlns:a16="http://schemas.microsoft.com/office/drawing/2014/main" id="{2594C2F1-37D9-4867-B639-D083BC488B94}"/>
              </a:ext>
            </a:extLst>
          </p:cNvPr>
          <p:cNvSpPr/>
          <p:nvPr/>
        </p:nvSpPr>
        <p:spPr>
          <a:xfrm rot="10800000">
            <a:off x="-1" y="0"/>
            <a:ext cx="7108723" cy="1533342"/>
          </a:xfrm>
          <a:custGeom>
            <a:avLst/>
            <a:gdLst>
              <a:gd name="connsiteX0" fmla="*/ 0 w 4227871"/>
              <a:gd name="connsiteY0" fmla="*/ 0 h 1018197"/>
              <a:gd name="connsiteX1" fmla="*/ 4227871 w 4227871"/>
              <a:gd name="connsiteY1" fmla="*/ 0 h 1018197"/>
              <a:gd name="connsiteX2" fmla="*/ 4227871 w 4227871"/>
              <a:gd name="connsiteY2" fmla="*/ 1018197 h 1018197"/>
              <a:gd name="connsiteX3" fmla="*/ 0 w 4227871"/>
              <a:gd name="connsiteY3" fmla="*/ 1018197 h 1018197"/>
              <a:gd name="connsiteX4" fmla="*/ 0 w 4227871"/>
              <a:gd name="connsiteY4" fmla="*/ 0 h 1018197"/>
              <a:gd name="connsiteX0" fmla="*/ 19665 w 4227871"/>
              <a:gd name="connsiteY0" fmla="*/ 0 h 1057526"/>
              <a:gd name="connsiteX1" fmla="*/ 4227871 w 4227871"/>
              <a:gd name="connsiteY1" fmla="*/ 39329 h 1057526"/>
              <a:gd name="connsiteX2" fmla="*/ 4227871 w 4227871"/>
              <a:gd name="connsiteY2" fmla="*/ 1057526 h 1057526"/>
              <a:gd name="connsiteX3" fmla="*/ 0 w 4227871"/>
              <a:gd name="connsiteY3" fmla="*/ 1057526 h 1057526"/>
              <a:gd name="connsiteX4" fmla="*/ 19665 w 4227871"/>
              <a:gd name="connsiteY4" fmla="*/ 0 h 1057526"/>
              <a:gd name="connsiteX0" fmla="*/ 1219200 w 5427406"/>
              <a:gd name="connsiteY0" fmla="*/ 0 h 1096855"/>
              <a:gd name="connsiteX1" fmla="*/ 5427406 w 5427406"/>
              <a:gd name="connsiteY1" fmla="*/ 39329 h 1096855"/>
              <a:gd name="connsiteX2" fmla="*/ 5427406 w 5427406"/>
              <a:gd name="connsiteY2" fmla="*/ 1057526 h 1096855"/>
              <a:gd name="connsiteX3" fmla="*/ 0 w 5427406"/>
              <a:gd name="connsiteY3" fmla="*/ 1096855 h 1096855"/>
              <a:gd name="connsiteX4" fmla="*/ 1219200 w 5427406"/>
              <a:gd name="connsiteY4" fmla="*/ 0 h 1096855"/>
              <a:gd name="connsiteX0" fmla="*/ 1219200 w 5427406"/>
              <a:gd name="connsiteY0" fmla="*/ 0 h 1096855"/>
              <a:gd name="connsiteX1" fmla="*/ 5427406 w 5427406"/>
              <a:gd name="connsiteY1" fmla="*/ 39329 h 1096855"/>
              <a:gd name="connsiteX2" fmla="*/ 5427406 w 5427406"/>
              <a:gd name="connsiteY2" fmla="*/ 1057526 h 1096855"/>
              <a:gd name="connsiteX3" fmla="*/ 0 w 5427406"/>
              <a:gd name="connsiteY3" fmla="*/ 1096855 h 1096855"/>
              <a:gd name="connsiteX4" fmla="*/ 1219200 w 5427406"/>
              <a:gd name="connsiteY4" fmla="*/ 0 h 1096855"/>
              <a:gd name="connsiteX0" fmla="*/ 1248697 w 5427406"/>
              <a:gd name="connsiteY0" fmla="*/ 0 h 1106687"/>
              <a:gd name="connsiteX1" fmla="*/ 5427406 w 5427406"/>
              <a:gd name="connsiteY1" fmla="*/ 49161 h 1106687"/>
              <a:gd name="connsiteX2" fmla="*/ 5427406 w 5427406"/>
              <a:gd name="connsiteY2" fmla="*/ 1067358 h 1106687"/>
              <a:gd name="connsiteX3" fmla="*/ 0 w 5427406"/>
              <a:gd name="connsiteY3" fmla="*/ 1106687 h 1106687"/>
              <a:gd name="connsiteX4" fmla="*/ 1248697 w 5427406"/>
              <a:gd name="connsiteY4" fmla="*/ 0 h 1106687"/>
              <a:gd name="connsiteX0" fmla="*/ 1248697 w 5427406"/>
              <a:gd name="connsiteY0" fmla="*/ 0 h 1106687"/>
              <a:gd name="connsiteX1" fmla="*/ 5427406 w 5427406"/>
              <a:gd name="connsiteY1" fmla="*/ 49161 h 1106687"/>
              <a:gd name="connsiteX2" fmla="*/ 5427406 w 5427406"/>
              <a:gd name="connsiteY2" fmla="*/ 1067358 h 1106687"/>
              <a:gd name="connsiteX3" fmla="*/ 0 w 5427406"/>
              <a:gd name="connsiteY3" fmla="*/ 1106687 h 1106687"/>
              <a:gd name="connsiteX4" fmla="*/ 1248697 w 5427406"/>
              <a:gd name="connsiteY4" fmla="*/ 0 h 1106687"/>
              <a:gd name="connsiteX0" fmla="*/ 1288026 w 5427406"/>
              <a:gd name="connsiteY0" fmla="*/ 0 h 1106687"/>
              <a:gd name="connsiteX1" fmla="*/ 5427406 w 5427406"/>
              <a:gd name="connsiteY1" fmla="*/ 49161 h 1106687"/>
              <a:gd name="connsiteX2" fmla="*/ 5427406 w 5427406"/>
              <a:gd name="connsiteY2" fmla="*/ 1067358 h 1106687"/>
              <a:gd name="connsiteX3" fmla="*/ 0 w 5427406"/>
              <a:gd name="connsiteY3" fmla="*/ 1106687 h 1106687"/>
              <a:gd name="connsiteX4" fmla="*/ 1288026 w 5427406"/>
              <a:gd name="connsiteY4" fmla="*/ 0 h 1106687"/>
              <a:gd name="connsiteX0" fmla="*/ 1386349 w 5427406"/>
              <a:gd name="connsiteY0" fmla="*/ 0 h 1087022"/>
              <a:gd name="connsiteX1" fmla="*/ 5427406 w 5427406"/>
              <a:gd name="connsiteY1" fmla="*/ 29496 h 1087022"/>
              <a:gd name="connsiteX2" fmla="*/ 5427406 w 5427406"/>
              <a:gd name="connsiteY2" fmla="*/ 1047693 h 1087022"/>
              <a:gd name="connsiteX3" fmla="*/ 0 w 5427406"/>
              <a:gd name="connsiteY3" fmla="*/ 1087022 h 1087022"/>
              <a:gd name="connsiteX4" fmla="*/ 1386349 w 5427406"/>
              <a:gd name="connsiteY4" fmla="*/ 0 h 1087022"/>
              <a:gd name="connsiteX0" fmla="*/ 1386349 w 5427406"/>
              <a:gd name="connsiteY0" fmla="*/ 0 h 1087022"/>
              <a:gd name="connsiteX1" fmla="*/ 5427406 w 5427406"/>
              <a:gd name="connsiteY1" fmla="*/ 29496 h 1087022"/>
              <a:gd name="connsiteX2" fmla="*/ 5427406 w 5427406"/>
              <a:gd name="connsiteY2" fmla="*/ 1047693 h 1087022"/>
              <a:gd name="connsiteX3" fmla="*/ 0 w 5427406"/>
              <a:gd name="connsiteY3" fmla="*/ 1087022 h 1087022"/>
              <a:gd name="connsiteX4" fmla="*/ 1386349 w 5427406"/>
              <a:gd name="connsiteY4" fmla="*/ 0 h 1087022"/>
              <a:gd name="connsiteX0" fmla="*/ 1484672 w 5427406"/>
              <a:gd name="connsiteY0" fmla="*/ 0 h 1146015"/>
              <a:gd name="connsiteX1" fmla="*/ 5427406 w 5427406"/>
              <a:gd name="connsiteY1" fmla="*/ 88489 h 1146015"/>
              <a:gd name="connsiteX2" fmla="*/ 5427406 w 5427406"/>
              <a:gd name="connsiteY2" fmla="*/ 1106686 h 1146015"/>
              <a:gd name="connsiteX3" fmla="*/ 0 w 5427406"/>
              <a:gd name="connsiteY3" fmla="*/ 1146015 h 1146015"/>
              <a:gd name="connsiteX4" fmla="*/ 1484672 w 5427406"/>
              <a:gd name="connsiteY4" fmla="*/ 0 h 1146015"/>
              <a:gd name="connsiteX0" fmla="*/ 1484672 w 5427406"/>
              <a:gd name="connsiteY0" fmla="*/ 18816 h 1164831"/>
              <a:gd name="connsiteX1" fmla="*/ 2467896 w 5427406"/>
              <a:gd name="connsiteY1" fmla="*/ 628973 h 1164831"/>
              <a:gd name="connsiteX2" fmla="*/ 5427406 w 5427406"/>
              <a:gd name="connsiteY2" fmla="*/ 107305 h 1164831"/>
              <a:gd name="connsiteX3" fmla="*/ 5427406 w 5427406"/>
              <a:gd name="connsiteY3" fmla="*/ 1125502 h 1164831"/>
              <a:gd name="connsiteX4" fmla="*/ 0 w 5427406"/>
              <a:gd name="connsiteY4" fmla="*/ 1164831 h 1164831"/>
              <a:gd name="connsiteX5" fmla="*/ 1484672 w 5427406"/>
              <a:gd name="connsiteY5" fmla="*/ 18816 h 1164831"/>
              <a:gd name="connsiteX0" fmla="*/ 1484672 w 5427406"/>
              <a:gd name="connsiteY0" fmla="*/ 41691 h 1187706"/>
              <a:gd name="connsiteX1" fmla="*/ 2467896 w 5427406"/>
              <a:gd name="connsiteY1" fmla="*/ 651848 h 1187706"/>
              <a:gd name="connsiteX2" fmla="*/ 3539612 w 5427406"/>
              <a:gd name="connsiteY2" fmla="*/ 42248 h 1187706"/>
              <a:gd name="connsiteX3" fmla="*/ 5427406 w 5427406"/>
              <a:gd name="connsiteY3" fmla="*/ 130180 h 1187706"/>
              <a:gd name="connsiteX4" fmla="*/ 5427406 w 5427406"/>
              <a:gd name="connsiteY4" fmla="*/ 1148377 h 1187706"/>
              <a:gd name="connsiteX5" fmla="*/ 0 w 5427406"/>
              <a:gd name="connsiteY5" fmla="*/ 1187706 h 1187706"/>
              <a:gd name="connsiteX6" fmla="*/ 1484672 w 5427406"/>
              <a:gd name="connsiteY6" fmla="*/ 41691 h 1187706"/>
              <a:gd name="connsiteX0" fmla="*/ 1484672 w 5427406"/>
              <a:gd name="connsiteY0" fmla="*/ 18817 h 1164832"/>
              <a:gd name="connsiteX1" fmla="*/ 2467896 w 5427406"/>
              <a:gd name="connsiteY1" fmla="*/ 628974 h 1164832"/>
              <a:gd name="connsiteX2" fmla="*/ 3539612 w 5427406"/>
              <a:gd name="connsiteY2" fmla="*/ 19374 h 1164832"/>
              <a:gd name="connsiteX3" fmla="*/ 4896464 w 5427406"/>
              <a:gd name="connsiteY3" fmla="*/ 481490 h 1164832"/>
              <a:gd name="connsiteX4" fmla="*/ 5427406 w 5427406"/>
              <a:gd name="connsiteY4" fmla="*/ 107306 h 1164832"/>
              <a:gd name="connsiteX5" fmla="*/ 5427406 w 5427406"/>
              <a:gd name="connsiteY5" fmla="*/ 1125503 h 1164832"/>
              <a:gd name="connsiteX6" fmla="*/ 0 w 5427406"/>
              <a:gd name="connsiteY6" fmla="*/ 1164832 h 1164832"/>
              <a:gd name="connsiteX7" fmla="*/ 1484672 w 5427406"/>
              <a:gd name="connsiteY7" fmla="*/ 18817 h 1164832"/>
              <a:gd name="connsiteX0" fmla="*/ 1494505 w 5437239"/>
              <a:gd name="connsiteY0" fmla="*/ 18817 h 1125503"/>
              <a:gd name="connsiteX1" fmla="*/ 2477729 w 5437239"/>
              <a:gd name="connsiteY1" fmla="*/ 628974 h 1125503"/>
              <a:gd name="connsiteX2" fmla="*/ 3549445 w 5437239"/>
              <a:gd name="connsiteY2" fmla="*/ 19374 h 1125503"/>
              <a:gd name="connsiteX3" fmla="*/ 4906297 w 5437239"/>
              <a:gd name="connsiteY3" fmla="*/ 481490 h 1125503"/>
              <a:gd name="connsiteX4" fmla="*/ 5437239 w 5437239"/>
              <a:gd name="connsiteY4" fmla="*/ 107306 h 1125503"/>
              <a:gd name="connsiteX5" fmla="*/ 5437239 w 5437239"/>
              <a:gd name="connsiteY5" fmla="*/ 1125503 h 1125503"/>
              <a:gd name="connsiteX6" fmla="*/ 0 w 5437239"/>
              <a:gd name="connsiteY6" fmla="*/ 1105839 h 1125503"/>
              <a:gd name="connsiteX7" fmla="*/ 1494505 w 5437239"/>
              <a:gd name="connsiteY7" fmla="*/ 18817 h 1125503"/>
              <a:gd name="connsiteX0" fmla="*/ 1494505 w 5437239"/>
              <a:gd name="connsiteY0" fmla="*/ 18817 h 1125503"/>
              <a:gd name="connsiteX1" fmla="*/ 2477729 w 5437239"/>
              <a:gd name="connsiteY1" fmla="*/ 628974 h 1125503"/>
              <a:gd name="connsiteX2" fmla="*/ 3549445 w 5437239"/>
              <a:gd name="connsiteY2" fmla="*/ 19374 h 1125503"/>
              <a:gd name="connsiteX3" fmla="*/ 4906297 w 5437239"/>
              <a:gd name="connsiteY3" fmla="*/ 481490 h 1125503"/>
              <a:gd name="connsiteX4" fmla="*/ 5437239 w 5437239"/>
              <a:gd name="connsiteY4" fmla="*/ 107306 h 1125503"/>
              <a:gd name="connsiteX5" fmla="*/ 5437239 w 5437239"/>
              <a:gd name="connsiteY5" fmla="*/ 1125503 h 1125503"/>
              <a:gd name="connsiteX6" fmla="*/ 0 w 5437239"/>
              <a:gd name="connsiteY6" fmla="*/ 1125503 h 1125503"/>
              <a:gd name="connsiteX7" fmla="*/ 1494505 w 5437239"/>
              <a:gd name="connsiteY7" fmla="*/ 18817 h 1125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37239" h="1125503">
                <a:moveTo>
                  <a:pt x="1494505" y="18817"/>
                </a:moveTo>
                <a:cubicBezTo>
                  <a:pt x="1879602" y="-126209"/>
                  <a:pt x="1820607" y="614226"/>
                  <a:pt x="2477729" y="628974"/>
                </a:cubicBezTo>
                <a:cubicBezTo>
                  <a:pt x="2828413" y="694615"/>
                  <a:pt x="3056193" y="106319"/>
                  <a:pt x="3549445" y="19374"/>
                </a:cubicBezTo>
                <a:cubicBezTo>
                  <a:pt x="3903406" y="-90419"/>
                  <a:pt x="4591665" y="466835"/>
                  <a:pt x="4906297" y="481490"/>
                </a:cubicBezTo>
                <a:cubicBezTo>
                  <a:pt x="5220929" y="496145"/>
                  <a:pt x="5297949" y="-85242"/>
                  <a:pt x="5437239" y="107306"/>
                </a:cubicBezTo>
                <a:lnTo>
                  <a:pt x="5437239" y="1125503"/>
                </a:lnTo>
                <a:lnTo>
                  <a:pt x="0" y="1125503"/>
                </a:lnTo>
                <a:cubicBezTo>
                  <a:pt x="1183148" y="838543"/>
                  <a:pt x="970118" y="227119"/>
                  <a:pt x="1494505" y="18817"/>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9DBFFA70-E5B9-4414-BC6C-5B7318A7CF7A}"/>
              </a:ext>
            </a:extLst>
          </p:cNvPr>
          <p:cNvSpPr txBox="1"/>
          <p:nvPr/>
        </p:nvSpPr>
        <p:spPr>
          <a:xfrm>
            <a:off x="-1" y="-172554"/>
            <a:ext cx="6094428" cy="1015663"/>
          </a:xfrm>
          <a:prstGeom prst="rect">
            <a:avLst/>
          </a:prstGeom>
          <a:noFill/>
        </p:spPr>
        <p:txBody>
          <a:bodyPr wrap="square">
            <a:spAutoFit/>
          </a:bodyPr>
          <a:lstStyle/>
          <a:p>
            <a:r>
              <a:rPr lang="en-US" sz="6000" b="1" dirty="0"/>
              <a:t>Expected Benefits</a:t>
            </a:r>
          </a:p>
        </p:txBody>
      </p:sp>
    </p:spTree>
    <p:extLst>
      <p:ext uri="{BB962C8B-B14F-4D97-AF65-F5344CB8AC3E}">
        <p14:creationId xmlns:p14="http://schemas.microsoft.com/office/powerpoint/2010/main" val="930240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Arrow: Pentagon 28">
            <a:extLst>
              <a:ext uri="{FF2B5EF4-FFF2-40B4-BE49-F238E27FC236}">
                <a16:creationId xmlns:a16="http://schemas.microsoft.com/office/drawing/2014/main" id="{DD89217E-4406-44F2-9686-C75A86F139F7}"/>
              </a:ext>
            </a:extLst>
          </p:cNvPr>
          <p:cNvSpPr/>
          <p:nvPr/>
        </p:nvSpPr>
        <p:spPr>
          <a:xfrm flipH="1">
            <a:off x="10468466" y="373258"/>
            <a:ext cx="1723534" cy="914400"/>
          </a:xfrm>
          <a:prstGeom prst="homePlate">
            <a:avLst/>
          </a:prstGeom>
          <a:solidFill>
            <a:srgbClr val="E53947"/>
          </a:solidFill>
          <a:ln w="19050">
            <a:solidFill>
              <a:srgbClr val="F0B4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9717E70-20EF-4ABE-8505-5B4446F59910}"/>
              </a:ext>
            </a:extLst>
          </p:cNvPr>
          <p:cNvSpPr/>
          <p:nvPr/>
        </p:nvSpPr>
        <p:spPr>
          <a:xfrm>
            <a:off x="1159497" y="3016577"/>
            <a:ext cx="2818614" cy="2780907"/>
          </a:xfrm>
          <a:prstGeom prst="rect">
            <a:avLst/>
          </a:prstGeom>
          <a:noFill/>
          <a:ln w="19050">
            <a:solidFill>
              <a:srgbClr val="E5394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3E3294B-E90A-4966-A176-D54B0F53AA03}"/>
              </a:ext>
            </a:extLst>
          </p:cNvPr>
          <p:cNvSpPr/>
          <p:nvPr/>
        </p:nvSpPr>
        <p:spPr>
          <a:xfrm>
            <a:off x="4686693" y="3016577"/>
            <a:ext cx="2818614" cy="2780907"/>
          </a:xfrm>
          <a:prstGeom prst="rect">
            <a:avLst/>
          </a:prstGeom>
          <a:noFill/>
          <a:ln w="19050">
            <a:solidFill>
              <a:srgbClr val="FDC5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202CC8F-D21A-42FC-B157-EAB7A9BD896A}"/>
              </a:ext>
            </a:extLst>
          </p:cNvPr>
          <p:cNvSpPr/>
          <p:nvPr/>
        </p:nvSpPr>
        <p:spPr>
          <a:xfrm>
            <a:off x="8213889" y="3016577"/>
            <a:ext cx="2818614" cy="2780907"/>
          </a:xfrm>
          <a:prstGeom prst="rect">
            <a:avLst/>
          </a:prstGeom>
          <a:noFill/>
          <a:ln w="19050">
            <a:solidFill>
              <a:srgbClr val="F0B4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9E1E511-0F88-4913-AD8A-2DC22C135E5F}"/>
              </a:ext>
            </a:extLst>
          </p:cNvPr>
          <p:cNvSpPr/>
          <p:nvPr/>
        </p:nvSpPr>
        <p:spPr>
          <a:xfrm>
            <a:off x="1159498" y="2066042"/>
            <a:ext cx="2818613" cy="683444"/>
          </a:xfrm>
          <a:prstGeom prst="rect">
            <a:avLst/>
          </a:prstGeom>
          <a:solidFill>
            <a:srgbClr val="E53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92309AC-B800-43C0-9BDF-3C171CC42B25}"/>
              </a:ext>
            </a:extLst>
          </p:cNvPr>
          <p:cNvSpPr/>
          <p:nvPr/>
        </p:nvSpPr>
        <p:spPr>
          <a:xfrm>
            <a:off x="4686693" y="2066042"/>
            <a:ext cx="2818613" cy="683444"/>
          </a:xfrm>
          <a:prstGeom prst="rect">
            <a:avLst/>
          </a:prstGeom>
          <a:solidFill>
            <a:srgbClr val="FDC5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AFD4BD0-67A7-4F7E-9540-C61009EAAA00}"/>
              </a:ext>
            </a:extLst>
          </p:cNvPr>
          <p:cNvSpPr/>
          <p:nvPr/>
        </p:nvSpPr>
        <p:spPr>
          <a:xfrm>
            <a:off x="8213888" y="2066042"/>
            <a:ext cx="2818613" cy="683444"/>
          </a:xfrm>
          <a:prstGeom prst="rect">
            <a:avLst/>
          </a:prstGeom>
          <a:solidFill>
            <a:srgbClr val="F0B4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CFA6F76-26E6-4A82-820B-930B6012D36D}"/>
              </a:ext>
            </a:extLst>
          </p:cNvPr>
          <p:cNvSpPr/>
          <p:nvPr/>
        </p:nvSpPr>
        <p:spPr>
          <a:xfrm>
            <a:off x="1485507" y="5590096"/>
            <a:ext cx="2166593" cy="207388"/>
          </a:xfrm>
          <a:prstGeom prst="rect">
            <a:avLst/>
          </a:prstGeom>
          <a:solidFill>
            <a:srgbClr val="E53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02B1DFE-4A8F-4C1C-B788-C38FFD9954A7}"/>
              </a:ext>
            </a:extLst>
          </p:cNvPr>
          <p:cNvSpPr/>
          <p:nvPr/>
        </p:nvSpPr>
        <p:spPr>
          <a:xfrm>
            <a:off x="5012702" y="5590096"/>
            <a:ext cx="2166593" cy="207388"/>
          </a:xfrm>
          <a:prstGeom prst="rect">
            <a:avLst/>
          </a:prstGeom>
          <a:solidFill>
            <a:srgbClr val="FDC5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C6331E6-1850-4020-AE90-65789C78C3FD}"/>
              </a:ext>
            </a:extLst>
          </p:cNvPr>
          <p:cNvSpPr/>
          <p:nvPr/>
        </p:nvSpPr>
        <p:spPr>
          <a:xfrm>
            <a:off x="8539897" y="5590096"/>
            <a:ext cx="2166593" cy="207388"/>
          </a:xfrm>
          <a:prstGeom prst="rect">
            <a:avLst/>
          </a:prstGeom>
          <a:solidFill>
            <a:srgbClr val="F0B4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73B5865-25C6-4FF4-BF58-D5F1245E2397}"/>
              </a:ext>
            </a:extLst>
          </p:cNvPr>
          <p:cNvSpPr txBox="1"/>
          <p:nvPr/>
        </p:nvSpPr>
        <p:spPr>
          <a:xfrm>
            <a:off x="1385347" y="3193404"/>
            <a:ext cx="2366912" cy="1754326"/>
          </a:xfrm>
          <a:prstGeom prst="rect">
            <a:avLst/>
          </a:prstGeom>
          <a:noFill/>
        </p:spPr>
        <p:txBody>
          <a:bodyPr wrap="square">
            <a:spAutoFit/>
          </a:bodyPr>
          <a:lstStyle/>
          <a:p>
            <a:pPr algn="ctr"/>
            <a:r>
              <a:rPr lang="en-GB" dirty="0"/>
              <a:t>Conduct in-depth training sessions to acquaint staff members with the new system and resolve any issues.</a:t>
            </a:r>
          </a:p>
        </p:txBody>
      </p:sp>
      <p:sp>
        <p:nvSpPr>
          <p:cNvPr id="19" name="TextBox 18">
            <a:extLst>
              <a:ext uri="{FF2B5EF4-FFF2-40B4-BE49-F238E27FC236}">
                <a16:creationId xmlns:a16="http://schemas.microsoft.com/office/drawing/2014/main" id="{8FA15DE2-DFE2-4375-B6E3-905CF9678FDC}"/>
              </a:ext>
            </a:extLst>
          </p:cNvPr>
          <p:cNvSpPr txBox="1"/>
          <p:nvPr/>
        </p:nvSpPr>
        <p:spPr>
          <a:xfrm>
            <a:off x="1159497" y="2066042"/>
            <a:ext cx="6094428" cy="646331"/>
          </a:xfrm>
          <a:prstGeom prst="rect">
            <a:avLst/>
          </a:prstGeom>
          <a:noFill/>
        </p:spPr>
        <p:txBody>
          <a:bodyPr wrap="square">
            <a:spAutoFit/>
          </a:bodyPr>
          <a:lstStyle/>
          <a:p>
            <a:r>
              <a:rPr lang="en-GB" b="1" dirty="0"/>
              <a:t>    Overcoming Resistance </a:t>
            </a:r>
          </a:p>
          <a:p>
            <a:r>
              <a:rPr lang="en-GB" b="1" dirty="0"/>
              <a:t>              to Change</a:t>
            </a:r>
            <a:endParaRPr lang="en-US" b="1" dirty="0"/>
          </a:p>
        </p:txBody>
      </p:sp>
      <p:sp>
        <p:nvSpPr>
          <p:cNvPr id="21" name="TextBox 20">
            <a:extLst>
              <a:ext uri="{FF2B5EF4-FFF2-40B4-BE49-F238E27FC236}">
                <a16:creationId xmlns:a16="http://schemas.microsoft.com/office/drawing/2014/main" id="{2E5FDAF9-98CA-4F13-9AD7-D12EE7CF990B}"/>
              </a:ext>
            </a:extLst>
          </p:cNvPr>
          <p:cNvSpPr txBox="1"/>
          <p:nvPr/>
        </p:nvSpPr>
        <p:spPr>
          <a:xfrm>
            <a:off x="4703976" y="3231132"/>
            <a:ext cx="2801330" cy="1754326"/>
          </a:xfrm>
          <a:prstGeom prst="rect">
            <a:avLst/>
          </a:prstGeom>
          <a:noFill/>
        </p:spPr>
        <p:txBody>
          <a:bodyPr wrap="square">
            <a:spAutoFit/>
          </a:bodyPr>
          <a:lstStyle/>
          <a:p>
            <a:pPr algn="ctr"/>
            <a:r>
              <a:rPr lang="en-GB" dirty="0"/>
              <a:t>Work with the IT division to make sure the system is stable and dependable and that backup procedures are in place in case something goes wrong.</a:t>
            </a:r>
          </a:p>
        </p:txBody>
      </p:sp>
      <p:sp>
        <p:nvSpPr>
          <p:cNvPr id="23" name="TextBox 22">
            <a:extLst>
              <a:ext uri="{FF2B5EF4-FFF2-40B4-BE49-F238E27FC236}">
                <a16:creationId xmlns:a16="http://schemas.microsoft.com/office/drawing/2014/main" id="{332FACA6-259C-41C1-9F65-9D61ECF222B4}"/>
              </a:ext>
            </a:extLst>
          </p:cNvPr>
          <p:cNvSpPr txBox="1"/>
          <p:nvPr/>
        </p:nvSpPr>
        <p:spPr>
          <a:xfrm>
            <a:off x="5166674" y="2176932"/>
            <a:ext cx="6094428" cy="369332"/>
          </a:xfrm>
          <a:prstGeom prst="rect">
            <a:avLst/>
          </a:prstGeom>
          <a:noFill/>
        </p:spPr>
        <p:txBody>
          <a:bodyPr wrap="square">
            <a:spAutoFit/>
          </a:bodyPr>
          <a:lstStyle/>
          <a:p>
            <a:r>
              <a:rPr lang="en-GB" b="1" dirty="0"/>
              <a:t>Technical Problems  </a:t>
            </a:r>
            <a:endParaRPr lang="en-US" b="1" dirty="0"/>
          </a:p>
        </p:txBody>
      </p:sp>
      <p:sp>
        <p:nvSpPr>
          <p:cNvPr id="25" name="TextBox 24">
            <a:extLst>
              <a:ext uri="{FF2B5EF4-FFF2-40B4-BE49-F238E27FC236}">
                <a16:creationId xmlns:a16="http://schemas.microsoft.com/office/drawing/2014/main" id="{5EF6EEC0-272B-4BAC-97DB-A6981EF24B26}"/>
              </a:ext>
            </a:extLst>
          </p:cNvPr>
          <p:cNvSpPr txBox="1"/>
          <p:nvPr/>
        </p:nvSpPr>
        <p:spPr>
          <a:xfrm>
            <a:off x="8420493" y="3238255"/>
            <a:ext cx="2285997" cy="2031325"/>
          </a:xfrm>
          <a:prstGeom prst="rect">
            <a:avLst/>
          </a:prstGeom>
          <a:noFill/>
        </p:spPr>
        <p:txBody>
          <a:bodyPr wrap="square">
            <a:spAutoFit/>
          </a:bodyPr>
          <a:lstStyle/>
          <a:p>
            <a:pPr algn="ctr"/>
            <a:r>
              <a:rPr lang="en-GB" dirty="0"/>
              <a:t>Work closely with the payroll division to incorporate the deduction procedure into the current payroll system as smoothly as possible.</a:t>
            </a:r>
            <a:endParaRPr lang="en-US" dirty="0"/>
          </a:p>
        </p:txBody>
      </p:sp>
      <p:sp>
        <p:nvSpPr>
          <p:cNvPr id="27" name="TextBox 26">
            <a:extLst>
              <a:ext uri="{FF2B5EF4-FFF2-40B4-BE49-F238E27FC236}">
                <a16:creationId xmlns:a16="http://schemas.microsoft.com/office/drawing/2014/main" id="{8674C0DA-E656-4D83-BFFB-08F85F7377FD}"/>
              </a:ext>
            </a:extLst>
          </p:cNvPr>
          <p:cNvSpPr txBox="1"/>
          <p:nvPr/>
        </p:nvSpPr>
        <p:spPr>
          <a:xfrm>
            <a:off x="8539897" y="2164135"/>
            <a:ext cx="6094428" cy="369332"/>
          </a:xfrm>
          <a:prstGeom prst="rect">
            <a:avLst/>
          </a:prstGeom>
          <a:noFill/>
        </p:spPr>
        <p:txBody>
          <a:bodyPr wrap="square">
            <a:spAutoFit/>
          </a:bodyPr>
          <a:lstStyle/>
          <a:p>
            <a:r>
              <a:rPr lang="en-GB" b="1" dirty="0"/>
              <a:t>Integration Challenges </a:t>
            </a:r>
            <a:endParaRPr lang="en-US" b="1" dirty="0"/>
          </a:p>
        </p:txBody>
      </p:sp>
      <p:sp>
        <p:nvSpPr>
          <p:cNvPr id="28" name="Arrow: Pentagon 27">
            <a:extLst>
              <a:ext uri="{FF2B5EF4-FFF2-40B4-BE49-F238E27FC236}">
                <a16:creationId xmlns:a16="http://schemas.microsoft.com/office/drawing/2014/main" id="{64FB3252-AA8C-41F2-8D82-7E3701FD51DA}"/>
              </a:ext>
            </a:extLst>
          </p:cNvPr>
          <p:cNvSpPr/>
          <p:nvPr/>
        </p:nvSpPr>
        <p:spPr>
          <a:xfrm>
            <a:off x="0" y="373259"/>
            <a:ext cx="10699423" cy="914400"/>
          </a:xfrm>
          <a:prstGeom prst="homePlate">
            <a:avLst/>
          </a:prstGeom>
          <a:solidFill>
            <a:srgbClr val="FDC5B8"/>
          </a:solidFill>
          <a:ln w="19050">
            <a:solidFill>
              <a:srgbClr val="F0B4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15">
            <a:extLst>
              <a:ext uri="{FF2B5EF4-FFF2-40B4-BE49-F238E27FC236}">
                <a16:creationId xmlns:a16="http://schemas.microsoft.com/office/drawing/2014/main" id="{43969A58-0448-4F03-B2A9-2F36EBBDFB9B}"/>
              </a:ext>
            </a:extLst>
          </p:cNvPr>
          <p:cNvSpPr txBox="1">
            <a:spLocks/>
          </p:cNvSpPr>
          <p:nvPr/>
        </p:nvSpPr>
        <p:spPr>
          <a:xfrm>
            <a:off x="0" y="373258"/>
            <a:ext cx="8691907" cy="5188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6000" b="1" dirty="0"/>
              <a:t>Possible Challenges</a:t>
            </a:r>
          </a:p>
        </p:txBody>
      </p:sp>
    </p:spTree>
    <p:extLst>
      <p:ext uri="{BB962C8B-B14F-4D97-AF65-F5344CB8AC3E}">
        <p14:creationId xmlns:p14="http://schemas.microsoft.com/office/powerpoint/2010/main" val="1272842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1B27A-97DC-D072-BBAA-0DDC5C1C86FD}"/>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7265068D-BB88-75DC-5A1C-3A6E29AEC06D}"/>
              </a:ext>
            </a:extLst>
          </p:cNvPr>
          <p:cNvSpPr/>
          <p:nvPr/>
        </p:nvSpPr>
        <p:spPr>
          <a:xfrm>
            <a:off x="0" y="816417"/>
            <a:ext cx="11492844" cy="417146"/>
          </a:xfrm>
          <a:prstGeom prst="roundRect">
            <a:avLst/>
          </a:prstGeom>
          <a:solidFill>
            <a:srgbClr val="F1EAE8"/>
          </a:solidFill>
          <a:ln>
            <a:solidFill>
              <a:srgbClr val="E9D9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7465620-A3B7-7927-99A2-82F2302DC138}"/>
              </a:ext>
            </a:extLst>
          </p:cNvPr>
          <p:cNvSpPr/>
          <p:nvPr/>
        </p:nvSpPr>
        <p:spPr>
          <a:xfrm>
            <a:off x="0" y="0"/>
            <a:ext cx="9577633" cy="998014"/>
          </a:xfrm>
          <a:prstGeom prst="rect">
            <a:avLst/>
          </a:prstGeom>
          <a:solidFill>
            <a:srgbClr val="F1E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15">
            <a:extLst>
              <a:ext uri="{FF2B5EF4-FFF2-40B4-BE49-F238E27FC236}">
                <a16:creationId xmlns:a16="http://schemas.microsoft.com/office/drawing/2014/main" id="{A50781A4-1850-6DDF-A707-70C071647653}"/>
              </a:ext>
            </a:extLst>
          </p:cNvPr>
          <p:cNvSpPr txBox="1">
            <a:spLocks/>
          </p:cNvSpPr>
          <p:nvPr/>
        </p:nvSpPr>
        <p:spPr>
          <a:xfrm>
            <a:off x="0" y="163037"/>
            <a:ext cx="8691907" cy="5188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6000" b="1" dirty="0"/>
              <a:t>Process Flow</a:t>
            </a:r>
          </a:p>
        </p:txBody>
      </p:sp>
      <p:pic>
        <p:nvPicPr>
          <p:cNvPr id="3" name="Picture 2" descr="A diagram of a workflow&#10;&#10;Description automatically generated">
            <a:extLst>
              <a:ext uri="{FF2B5EF4-FFF2-40B4-BE49-F238E27FC236}">
                <a16:creationId xmlns:a16="http://schemas.microsoft.com/office/drawing/2014/main" id="{031D12BB-0074-1CBC-BE36-396FE0EA21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527" y="1498328"/>
            <a:ext cx="9698182" cy="4690036"/>
          </a:xfrm>
          <a:prstGeom prst="rect">
            <a:avLst/>
          </a:prstGeom>
        </p:spPr>
      </p:pic>
    </p:spTree>
    <p:extLst>
      <p:ext uri="{BB962C8B-B14F-4D97-AF65-F5344CB8AC3E}">
        <p14:creationId xmlns:p14="http://schemas.microsoft.com/office/powerpoint/2010/main" val="259775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F602A485-8E28-4122-B46C-A9232EB969FF}"/>
              </a:ext>
            </a:extLst>
          </p:cNvPr>
          <p:cNvSpPr/>
          <p:nvPr/>
        </p:nvSpPr>
        <p:spPr>
          <a:xfrm>
            <a:off x="0" y="816417"/>
            <a:ext cx="11492844" cy="417146"/>
          </a:xfrm>
          <a:prstGeom prst="roundRect">
            <a:avLst/>
          </a:prstGeom>
          <a:solidFill>
            <a:srgbClr val="F1EAE8"/>
          </a:solidFill>
          <a:ln>
            <a:solidFill>
              <a:srgbClr val="E9D9A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CF35AAB2-70DE-43FE-820A-7E2E62695E7C}"/>
              </a:ext>
            </a:extLst>
          </p:cNvPr>
          <p:cNvGrpSpPr/>
          <p:nvPr/>
        </p:nvGrpSpPr>
        <p:grpSpPr>
          <a:xfrm>
            <a:off x="895546" y="1432874"/>
            <a:ext cx="10597298" cy="5137607"/>
            <a:chOff x="985649" y="980387"/>
            <a:chExt cx="10667451" cy="5580668"/>
          </a:xfrm>
        </p:grpSpPr>
        <p:pic>
          <p:nvPicPr>
            <p:cNvPr id="5" name="Picture 4" descr="A diagram of a company&#10;&#10;Description automatically generated">
              <a:extLst>
                <a:ext uri="{FF2B5EF4-FFF2-40B4-BE49-F238E27FC236}">
                  <a16:creationId xmlns:a16="http://schemas.microsoft.com/office/drawing/2014/main" id="{09FFC727-01E6-4CFE-9548-F64081D9D8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5649" y="980387"/>
              <a:ext cx="10600885" cy="5580668"/>
            </a:xfrm>
            <a:prstGeom prst="rect">
              <a:avLst/>
            </a:prstGeom>
          </p:spPr>
        </p:pic>
        <p:sp>
          <p:nvSpPr>
            <p:cNvPr id="6" name="Oval 5">
              <a:extLst>
                <a:ext uri="{FF2B5EF4-FFF2-40B4-BE49-F238E27FC236}">
                  <a16:creationId xmlns:a16="http://schemas.microsoft.com/office/drawing/2014/main" id="{654775A4-A47A-4165-AC41-E80AB1C02903}"/>
                </a:ext>
              </a:extLst>
            </p:cNvPr>
            <p:cNvSpPr/>
            <p:nvPr/>
          </p:nvSpPr>
          <p:spPr>
            <a:xfrm>
              <a:off x="985649" y="1866507"/>
              <a:ext cx="1116527" cy="1084082"/>
            </a:xfrm>
            <a:prstGeom prst="ellipse">
              <a:avLst/>
            </a:prstGeom>
            <a:solidFill>
              <a:srgbClr val="F099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START</a:t>
              </a:r>
            </a:p>
          </p:txBody>
        </p:sp>
        <p:sp>
          <p:nvSpPr>
            <p:cNvPr id="9" name="Oval 8">
              <a:extLst>
                <a:ext uri="{FF2B5EF4-FFF2-40B4-BE49-F238E27FC236}">
                  <a16:creationId xmlns:a16="http://schemas.microsoft.com/office/drawing/2014/main" id="{2030DE47-C2DD-42CB-8359-711F23B5DADA}"/>
                </a:ext>
              </a:extLst>
            </p:cNvPr>
            <p:cNvSpPr/>
            <p:nvPr/>
          </p:nvSpPr>
          <p:spPr>
            <a:xfrm>
              <a:off x="10536572" y="1651261"/>
              <a:ext cx="1116528" cy="1084083"/>
            </a:xfrm>
            <a:prstGeom prst="ellipse">
              <a:avLst/>
            </a:prstGeom>
            <a:solidFill>
              <a:srgbClr val="E539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END</a:t>
              </a:r>
            </a:p>
          </p:txBody>
        </p:sp>
      </p:grpSp>
      <p:sp>
        <p:nvSpPr>
          <p:cNvPr id="12" name="Rectangle 11">
            <a:extLst>
              <a:ext uri="{FF2B5EF4-FFF2-40B4-BE49-F238E27FC236}">
                <a16:creationId xmlns:a16="http://schemas.microsoft.com/office/drawing/2014/main" id="{E6586EAC-CDA4-4C87-BDB8-DAEA0A2F01E9}"/>
              </a:ext>
            </a:extLst>
          </p:cNvPr>
          <p:cNvSpPr/>
          <p:nvPr/>
        </p:nvSpPr>
        <p:spPr>
          <a:xfrm>
            <a:off x="0" y="0"/>
            <a:ext cx="9577633" cy="998014"/>
          </a:xfrm>
          <a:prstGeom prst="rect">
            <a:avLst/>
          </a:prstGeom>
          <a:solidFill>
            <a:srgbClr val="F1E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 Placeholder 15">
            <a:extLst>
              <a:ext uri="{FF2B5EF4-FFF2-40B4-BE49-F238E27FC236}">
                <a16:creationId xmlns:a16="http://schemas.microsoft.com/office/drawing/2014/main" id="{3CBCD489-92BF-4FC6-8DD6-ED98745368CB}"/>
              </a:ext>
            </a:extLst>
          </p:cNvPr>
          <p:cNvSpPr txBox="1">
            <a:spLocks/>
          </p:cNvSpPr>
          <p:nvPr/>
        </p:nvSpPr>
        <p:spPr>
          <a:xfrm>
            <a:off x="0" y="163037"/>
            <a:ext cx="8691907" cy="5188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6000" b="1" dirty="0"/>
              <a:t>Process Flow</a:t>
            </a:r>
          </a:p>
        </p:txBody>
      </p:sp>
    </p:spTree>
    <p:extLst>
      <p:ext uri="{BB962C8B-B14F-4D97-AF65-F5344CB8AC3E}">
        <p14:creationId xmlns:p14="http://schemas.microsoft.com/office/powerpoint/2010/main" val="1933168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56F63628-9B2D-43EB-A091-0837DF42D52A}"/>
              </a:ext>
            </a:extLst>
          </p:cNvPr>
          <p:cNvGraphicFramePr>
            <a:graphicFrameLocks noGrp="1"/>
          </p:cNvGraphicFramePr>
          <p:nvPr>
            <p:extLst>
              <p:ext uri="{D42A27DB-BD31-4B8C-83A1-F6EECF244321}">
                <p14:modId xmlns:p14="http://schemas.microsoft.com/office/powerpoint/2010/main" val="2934195184"/>
              </p:ext>
            </p:extLst>
          </p:nvPr>
        </p:nvGraphicFramePr>
        <p:xfrm>
          <a:off x="1376518" y="1592910"/>
          <a:ext cx="9438963" cy="5093114"/>
        </p:xfrm>
        <a:graphic>
          <a:graphicData uri="http://schemas.openxmlformats.org/drawingml/2006/table">
            <a:tbl>
              <a:tblPr firstRow="1" firstCol="1" bandRow="1"/>
              <a:tblGrid>
                <a:gridCol w="1191183">
                  <a:extLst>
                    <a:ext uri="{9D8B030D-6E8A-4147-A177-3AD203B41FA5}">
                      <a16:colId xmlns:a16="http://schemas.microsoft.com/office/drawing/2014/main" val="788346711"/>
                    </a:ext>
                  </a:extLst>
                </a:gridCol>
                <a:gridCol w="939047">
                  <a:extLst>
                    <a:ext uri="{9D8B030D-6E8A-4147-A177-3AD203B41FA5}">
                      <a16:colId xmlns:a16="http://schemas.microsoft.com/office/drawing/2014/main" val="1407355070"/>
                    </a:ext>
                  </a:extLst>
                </a:gridCol>
                <a:gridCol w="962484">
                  <a:extLst>
                    <a:ext uri="{9D8B030D-6E8A-4147-A177-3AD203B41FA5}">
                      <a16:colId xmlns:a16="http://schemas.microsoft.com/office/drawing/2014/main" val="811122190"/>
                    </a:ext>
                  </a:extLst>
                </a:gridCol>
                <a:gridCol w="983495">
                  <a:extLst>
                    <a:ext uri="{9D8B030D-6E8A-4147-A177-3AD203B41FA5}">
                      <a16:colId xmlns:a16="http://schemas.microsoft.com/office/drawing/2014/main" val="189151669"/>
                    </a:ext>
                  </a:extLst>
                </a:gridCol>
                <a:gridCol w="909147">
                  <a:extLst>
                    <a:ext uri="{9D8B030D-6E8A-4147-A177-3AD203B41FA5}">
                      <a16:colId xmlns:a16="http://schemas.microsoft.com/office/drawing/2014/main" val="2249364183"/>
                    </a:ext>
                  </a:extLst>
                </a:gridCol>
                <a:gridCol w="674788">
                  <a:extLst>
                    <a:ext uri="{9D8B030D-6E8A-4147-A177-3AD203B41FA5}">
                      <a16:colId xmlns:a16="http://schemas.microsoft.com/office/drawing/2014/main" val="491673207"/>
                    </a:ext>
                  </a:extLst>
                </a:gridCol>
                <a:gridCol w="590745">
                  <a:extLst>
                    <a:ext uri="{9D8B030D-6E8A-4147-A177-3AD203B41FA5}">
                      <a16:colId xmlns:a16="http://schemas.microsoft.com/office/drawing/2014/main" val="2511562024"/>
                    </a:ext>
                  </a:extLst>
                </a:gridCol>
                <a:gridCol w="743479">
                  <a:extLst>
                    <a:ext uri="{9D8B030D-6E8A-4147-A177-3AD203B41FA5}">
                      <a16:colId xmlns:a16="http://schemas.microsoft.com/office/drawing/2014/main" val="3331773583"/>
                    </a:ext>
                  </a:extLst>
                </a:gridCol>
                <a:gridCol w="1535448">
                  <a:extLst>
                    <a:ext uri="{9D8B030D-6E8A-4147-A177-3AD203B41FA5}">
                      <a16:colId xmlns:a16="http://schemas.microsoft.com/office/drawing/2014/main" val="1133154727"/>
                    </a:ext>
                  </a:extLst>
                </a:gridCol>
                <a:gridCol w="909147">
                  <a:extLst>
                    <a:ext uri="{9D8B030D-6E8A-4147-A177-3AD203B41FA5}">
                      <a16:colId xmlns:a16="http://schemas.microsoft.com/office/drawing/2014/main" val="1402954640"/>
                    </a:ext>
                  </a:extLst>
                </a:gridCol>
              </a:tblGrid>
              <a:tr h="493138">
                <a:tc>
                  <a:txBody>
                    <a:bodyPr/>
                    <a:lstStyle/>
                    <a:p>
                      <a:pPr marL="0" marR="0" algn="ctr">
                        <a:lnSpc>
                          <a:spcPct val="107000"/>
                        </a:lnSpc>
                        <a:spcBef>
                          <a:spcPts val="0"/>
                        </a:spcBef>
                        <a:spcAft>
                          <a:spcPts val="0"/>
                        </a:spcAft>
                      </a:pPr>
                      <a:r>
                        <a:rPr lang="en-GB" sz="11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Task/Activity</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Project Manager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IT Department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Canteen Management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HR Department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Delivery Boy</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1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Chefs</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Employees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Supervisors/Managers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Payroll Department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328379472"/>
                  </a:ext>
                </a:extLst>
              </a:tr>
              <a:tr h="493138">
                <a:tc>
                  <a:txBody>
                    <a:bodyPr/>
                    <a:lstStyle/>
                    <a:p>
                      <a:pPr marL="0" marR="0">
                        <a:lnSpc>
                          <a:spcPct val="107000"/>
                        </a:lnSpc>
                        <a:spcBef>
                          <a:spcPts val="0"/>
                        </a:spcBef>
                        <a:spcAft>
                          <a:spcPts val="0"/>
                        </a:spcAft>
                      </a:pPr>
                      <a:r>
                        <a:rPr lang="en-GB" sz="11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Project Planning</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 (Responsible)</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 (Accountable)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 (Consulted)</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 (Informed)</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453825872"/>
                  </a:ext>
                </a:extLst>
              </a:tr>
              <a:tr h="493138">
                <a:tc>
                  <a:txBody>
                    <a:bodyPr/>
                    <a:lstStyle/>
                    <a:p>
                      <a:pPr marL="0" marR="0">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System Development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382854272"/>
                  </a:ext>
                </a:extLst>
              </a:tr>
              <a:tr h="493138">
                <a:tc>
                  <a:txBody>
                    <a:bodyPr/>
                    <a:lstStyle/>
                    <a:p>
                      <a:pPr marL="0" marR="0">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Menu Creation/Update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765639317"/>
                  </a:ext>
                </a:extLst>
              </a:tr>
              <a:tr h="493138">
                <a:tc>
                  <a:txBody>
                    <a:bodyPr/>
                    <a:lstStyle/>
                    <a:p>
                      <a:pPr marL="0" marR="0">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Employee Training</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3209737879"/>
                  </a:ext>
                </a:extLst>
              </a:tr>
              <a:tr h="493138">
                <a:tc>
                  <a:txBody>
                    <a:bodyPr/>
                    <a:lstStyle/>
                    <a:p>
                      <a:pPr marL="0" marR="0">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Order Processing</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460856467"/>
                  </a:ext>
                </a:extLst>
              </a:tr>
              <a:tr h="493138">
                <a:tc>
                  <a:txBody>
                    <a:bodyPr/>
                    <a:lstStyle/>
                    <a:p>
                      <a:pPr marL="0" marR="0">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Delivery Coordination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369371896"/>
                  </a:ext>
                </a:extLst>
              </a:tr>
              <a:tr h="654872">
                <a:tc>
                  <a:txBody>
                    <a:bodyPr/>
                    <a:lstStyle/>
                    <a:p>
                      <a:pPr marL="0" marR="0">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Feedback Handling</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138176649"/>
                  </a:ext>
                </a:extLst>
              </a:tr>
              <a:tr h="493138">
                <a:tc>
                  <a:txBody>
                    <a:bodyPr/>
                    <a:lstStyle/>
                    <a:p>
                      <a:pPr marL="0" marR="0">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Enrolment Process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marL="0" marR="0">
                        <a:lnSpc>
                          <a:spcPct val="107000"/>
                        </a:lnSpc>
                        <a:spcBef>
                          <a:spcPts val="0"/>
                        </a:spcBef>
                        <a:spcAft>
                          <a:spcPts val="0"/>
                        </a:spcAft>
                      </a:pPr>
                      <a:r>
                        <a:rPr lang="en-GB" sz="1100"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2672693816"/>
                  </a:ext>
                </a:extLst>
              </a:tr>
              <a:tr h="493138">
                <a:tc>
                  <a:txBody>
                    <a:bodyPr/>
                    <a:lstStyle/>
                    <a:p>
                      <a:pPr marL="0" marR="0">
                        <a:lnSpc>
                          <a:spcPct val="107000"/>
                        </a:lnSpc>
                        <a:spcBef>
                          <a:spcPts val="0"/>
                        </a:spcBef>
                        <a:spcAft>
                          <a:spcPts val="0"/>
                        </a:spcAft>
                      </a:pPr>
                      <a:r>
                        <a:rPr lang="en-GB" sz="1100" b="1"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Integration with Payroll</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A</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nSpc>
                          <a:spcPct val="107000"/>
                        </a:lnSpc>
                        <a:spcBef>
                          <a:spcPts val="0"/>
                        </a:spcBef>
                        <a:spcAft>
                          <a:spcPts val="0"/>
                        </a:spcAft>
                      </a:pPr>
                      <a:r>
                        <a:rPr lang="en-GB" sz="1100" kern="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endParaRPr lang="en-US" sz="1100" kern="100">
                        <a:effectLst/>
                        <a:latin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endParaRPr lang="en-US" sz="1100" kern="100">
                        <a:effectLst/>
                        <a:latin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endParaRPr lang="en-US" sz="1100" kern="100">
                        <a:effectLst/>
                        <a:latin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endParaRPr lang="en-US" sz="1100" kern="100" dirty="0">
                        <a:effectLst/>
                        <a:latin typeface="Calibri" panose="020F0502020204030204" pitchFamily="34" charset="0"/>
                        <a:cs typeface="Times New Roman" panose="02020603050405020304" pitchFamily="18" charset="0"/>
                      </a:endParaRPr>
                    </a:p>
                  </a:txBody>
                  <a:tcPr marL="40663" marR="40663"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438290180"/>
                  </a:ext>
                </a:extLst>
              </a:tr>
            </a:tbl>
          </a:graphicData>
        </a:graphic>
      </p:graphicFrame>
      <p:sp>
        <p:nvSpPr>
          <p:cNvPr id="10" name="Rectangle 3">
            <a:extLst>
              <a:ext uri="{FF2B5EF4-FFF2-40B4-BE49-F238E27FC236}">
                <a16:creationId xmlns:a16="http://schemas.microsoft.com/office/drawing/2014/main" id="{842C2DEE-A118-4ACF-9227-D7C8E9D0B326}"/>
              </a:ext>
            </a:extLst>
          </p:cNvPr>
          <p:cNvSpPr>
            <a:spLocks noChangeArrowheads="1"/>
          </p:cNvSpPr>
          <p:nvPr/>
        </p:nvSpPr>
        <p:spPr bwMode="auto">
          <a:xfrm>
            <a:off x="-2254458" y="1510898"/>
            <a:ext cx="26168493"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2500"/>
          </a:p>
        </p:txBody>
      </p:sp>
      <p:sp>
        <p:nvSpPr>
          <p:cNvPr id="14" name="Rectangle 13">
            <a:extLst>
              <a:ext uri="{FF2B5EF4-FFF2-40B4-BE49-F238E27FC236}">
                <a16:creationId xmlns:a16="http://schemas.microsoft.com/office/drawing/2014/main" id="{BD36C91D-9F9E-4EA8-9B62-5C66A18F2B83}"/>
              </a:ext>
            </a:extLst>
          </p:cNvPr>
          <p:cNvSpPr/>
          <p:nvPr/>
        </p:nvSpPr>
        <p:spPr>
          <a:xfrm>
            <a:off x="-1" y="98320"/>
            <a:ext cx="7895303" cy="1209368"/>
          </a:xfrm>
          <a:custGeom>
            <a:avLst/>
            <a:gdLst>
              <a:gd name="connsiteX0" fmla="*/ 0 w 3205316"/>
              <a:gd name="connsiteY0" fmla="*/ 0 h 1295400"/>
              <a:gd name="connsiteX1" fmla="*/ 3205316 w 3205316"/>
              <a:gd name="connsiteY1" fmla="*/ 0 h 1295400"/>
              <a:gd name="connsiteX2" fmla="*/ 3205316 w 3205316"/>
              <a:gd name="connsiteY2" fmla="*/ 1295400 h 1295400"/>
              <a:gd name="connsiteX3" fmla="*/ 0 w 3205316"/>
              <a:gd name="connsiteY3" fmla="*/ 1295400 h 1295400"/>
              <a:gd name="connsiteX4" fmla="*/ 0 w 3205316"/>
              <a:gd name="connsiteY4" fmla="*/ 0 h 1295400"/>
              <a:gd name="connsiteX0" fmla="*/ 0 w 3205316"/>
              <a:gd name="connsiteY0" fmla="*/ 0 h 1295400"/>
              <a:gd name="connsiteX1" fmla="*/ 2359742 w 3205316"/>
              <a:gd name="connsiteY1" fmla="*/ 19665 h 1295400"/>
              <a:gd name="connsiteX2" fmla="*/ 3205316 w 3205316"/>
              <a:gd name="connsiteY2" fmla="*/ 1295400 h 1295400"/>
              <a:gd name="connsiteX3" fmla="*/ 0 w 3205316"/>
              <a:gd name="connsiteY3" fmla="*/ 1295400 h 1295400"/>
              <a:gd name="connsiteX4" fmla="*/ 0 w 3205316"/>
              <a:gd name="connsiteY4" fmla="*/ 0 h 1295400"/>
              <a:gd name="connsiteX0" fmla="*/ 0 w 3030985"/>
              <a:gd name="connsiteY0" fmla="*/ 0 h 1350291"/>
              <a:gd name="connsiteX1" fmla="*/ 2359742 w 3030985"/>
              <a:gd name="connsiteY1" fmla="*/ 19665 h 1350291"/>
              <a:gd name="connsiteX2" fmla="*/ 3030985 w 3030985"/>
              <a:gd name="connsiteY2" fmla="*/ 1350291 h 1350291"/>
              <a:gd name="connsiteX3" fmla="*/ 0 w 3030985"/>
              <a:gd name="connsiteY3" fmla="*/ 1295400 h 1350291"/>
              <a:gd name="connsiteX4" fmla="*/ 0 w 3030985"/>
              <a:gd name="connsiteY4" fmla="*/ 0 h 1350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30985" h="1350291">
                <a:moveTo>
                  <a:pt x="0" y="0"/>
                </a:moveTo>
                <a:lnTo>
                  <a:pt x="2359742" y="19665"/>
                </a:lnTo>
                <a:lnTo>
                  <a:pt x="3030985" y="1350291"/>
                </a:lnTo>
                <a:lnTo>
                  <a:pt x="0" y="1295400"/>
                </a:lnTo>
                <a:lnTo>
                  <a:pt x="0" y="0"/>
                </a:lnTo>
                <a:close/>
              </a:path>
            </a:pathLst>
          </a:custGeom>
          <a:solidFill>
            <a:srgbClr val="D9E0DE"/>
          </a:solidFill>
          <a:ln>
            <a:solidFill>
              <a:srgbClr val="FDC7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 Placeholder 15">
            <a:extLst>
              <a:ext uri="{FF2B5EF4-FFF2-40B4-BE49-F238E27FC236}">
                <a16:creationId xmlns:a16="http://schemas.microsoft.com/office/drawing/2014/main" id="{847181DB-913D-4C12-BB28-980CE879077D}"/>
              </a:ext>
            </a:extLst>
          </p:cNvPr>
          <p:cNvSpPr txBox="1">
            <a:spLocks/>
          </p:cNvSpPr>
          <p:nvPr/>
        </p:nvSpPr>
        <p:spPr>
          <a:xfrm>
            <a:off x="0" y="163037"/>
            <a:ext cx="8691907" cy="5188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6000" b="1" dirty="0"/>
              <a:t>Raci Matrix</a:t>
            </a:r>
          </a:p>
        </p:txBody>
      </p:sp>
      <p:sp>
        <p:nvSpPr>
          <p:cNvPr id="30" name="Rectangle 29">
            <a:extLst>
              <a:ext uri="{FF2B5EF4-FFF2-40B4-BE49-F238E27FC236}">
                <a16:creationId xmlns:a16="http://schemas.microsoft.com/office/drawing/2014/main" id="{B1F1C116-7BCE-4AAD-89DE-58B70B4C86EC}"/>
              </a:ext>
            </a:extLst>
          </p:cNvPr>
          <p:cNvSpPr/>
          <p:nvPr/>
        </p:nvSpPr>
        <p:spPr>
          <a:xfrm rot="16200000">
            <a:off x="3931802" y="-2820009"/>
            <a:ext cx="274554" cy="8138160"/>
          </a:xfrm>
          <a:prstGeom prst="rect">
            <a:avLst/>
          </a:prstGeom>
          <a:solidFill>
            <a:srgbClr val="FDC7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5800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67561658-2C5E-4E00-9614-1F9C2259AE43}"/>
              </a:ext>
            </a:extLst>
          </p:cNvPr>
          <p:cNvCxnSpPr>
            <a:cxnSpLocks/>
          </p:cNvCxnSpPr>
          <p:nvPr/>
        </p:nvCxnSpPr>
        <p:spPr>
          <a:xfrm>
            <a:off x="6116970" y="5188654"/>
            <a:ext cx="0" cy="419915"/>
          </a:xfrm>
          <a:prstGeom prst="line">
            <a:avLst/>
          </a:prstGeom>
          <a:ln w="38100">
            <a:solidFill>
              <a:srgbClr val="F1FCF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9B3F0FD-4EC9-42A3-A5FB-CCE46DAAF9BC}"/>
              </a:ext>
            </a:extLst>
          </p:cNvPr>
          <p:cNvCxnSpPr>
            <a:cxnSpLocks/>
          </p:cNvCxnSpPr>
          <p:nvPr/>
        </p:nvCxnSpPr>
        <p:spPr>
          <a:xfrm>
            <a:off x="7515627" y="4608246"/>
            <a:ext cx="306786" cy="229676"/>
          </a:xfrm>
          <a:prstGeom prst="line">
            <a:avLst/>
          </a:prstGeom>
          <a:ln w="38100">
            <a:solidFill>
              <a:srgbClr val="FCC79B"/>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8DD3987-DD82-4783-A2DA-F9C8CDA1BFE4}"/>
              </a:ext>
            </a:extLst>
          </p:cNvPr>
          <p:cNvCxnSpPr>
            <a:cxnSpLocks/>
          </p:cNvCxnSpPr>
          <p:nvPr/>
        </p:nvCxnSpPr>
        <p:spPr>
          <a:xfrm>
            <a:off x="7962898" y="3284805"/>
            <a:ext cx="517080" cy="13230"/>
          </a:xfrm>
          <a:prstGeom prst="line">
            <a:avLst/>
          </a:prstGeom>
          <a:ln w="38100">
            <a:solidFill>
              <a:srgbClr val="FCC79B"/>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5DCC5A6-8856-4035-A749-67AA94C1EC38}"/>
              </a:ext>
            </a:extLst>
          </p:cNvPr>
          <p:cNvCxnSpPr>
            <a:cxnSpLocks/>
          </p:cNvCxnSpPr>
          <p:nvPr/>
        </p:nvCxnSpPr>
        <p:spPr>
          <a:xfrm flipV="1">
            <a:off x="7465356" y="2118330"/>
            <a:ext cx="409162" cy="9033"/>
          </a:xfrm>
          <a:prstGeom prst="line">
            <a:avLst/>
          </a:prstGeom>
          <a:ln w="38100">
            <a:solidFill>
              <a:srgbClr val="FCC79B"/>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6E735DA-2241-4557-A95A-4D5BA589C15D}"/>
              </a:ext>
            </a:extLst>
          </p:cNvPr>
          <p:cNvCxnSpPr>
            <a:cxnSpLocks/>
          </p:cNvCxnSpPr>
          <p:nvPr/>
        </p:nvCxnSpPr>
        <p:spPr>
          <a:xfrm flipH="1">
            <a:off x="4376591" y="2179730"/>
            <a:ext cx="368684" cy="0"/>
          </a:xfrm>
          <a:prstGeom prst="line">
            <a:avLst/>
          </a:prstGeom>
          <a:ln w="38100">
            <a:solidFill>
              <a:srgbClr val="E3DAA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029B5E9-CA2C-4ACA-9284-1B10C3FC84CE}"/>
              </a:ext>
            </a:extLst>
          </p:cNvPr>
          <p:cNvCxnSpPr>
            <a:cxnSpLocks/>
          </p:cNvCxnSpPr>
          <p:nvPr/>
        </p:nvCxnSpPr>
        <p:spPr>
          <a:xfrm flipH="1">
            <a:off x="3718338" y="3383107"/>
            <a:ext cx="417691" cy="0"/>
          </a:xfrm>
          <a:prstGeom prst="line">
            <a:avLst/>
          </a:prstGeom>
          <a:ln w="38100">
            <a:solidFill>
              <a:srgbClr val="E3DAAF"/>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D6DDB01-A653-40C6-B16B-FC3499DE4F08}"/>
              </a:ext>
            </a:extLst>
          </p:cNvPr>
          <p:cNvCxnSpPr>
            <a:cxnSpLocks/>
          </p:cNvCxnSpPr>
          <p:nvPr/>
        </p:nvCxnSpPr>
        <p:spPr>
          <a:xfrm flipH="1">
            <a:off x="4508142" y="4678254"/>
            <a:ext cx="178352" cy="287752"/>
          </a:xfrm>
          <a:prstGeom prst="line">
            <a:avLst/>
          </a:prstGeom>
          <a:ln w="38100">
            <a:solidFill>
              <a:srgbClr val="E3DAAF"/>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6D12615-EF5E-418A-A847-9B43208F7049}"/>
              </a:ext>
            </a:extLst>
          </p:cNvPr>
          <p:cNvCxnSpPr>
            <a:cxnSpLocks/>
          </p:cNvCxnSpPr>
          <p:nvPr/>
        </p:nvCxnSpPr>
        <p:spPr>
          <a:xfrm flipH="1" flipV="1">
            <a:off x="6041882" y="1242252"/>
            <a:ext cx="1" cy="313303"/>
          </a:xfrm>
          <a:prstGeom prst="line">
            <a:avLst/>
          </a:prstGeom>
          <a:ln w="38100">
            <a:solidFill>
              <a:srgbClr val="F1FCF1"/>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840EE993-4E97-48BB-8CA3-630E17BD3D91}"/>
              </a:ext>
            </a:extLst>
          </p:cNvPr>
          <p:cNvSpPr/>
          <p:nvPr/>
        </p:nvSpPr>
        <p:spPr>
          <a:xfrm>
            <a:off x="4762107" y="2198802"/>
            <a:ext cx="2648932" cy="2422688"/>
          </a:xfrm>
          <a:prstGeom prst="ellipse">
            <a:avLst/>
          </a:prstGeom>
          <a:noFill/>
          <a:ln>
            <a:solidFill>
              <a:srgbClr val="E3DA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F0369C3-3DFB-4EBE-8783-2FFF7D379BF5}"/>
              </a:ext>
            </a:extLst>
          </p:cNvPr>
          <p:cNvSpPr/>
          <p:nvPr/>
        </p:nvSpPr>
        <p:spPr>
          <a:xfrm>
            <a:off x="5024485" y="2560320"/>
            <a:ext cx="2103120" cy="1737360"/>
          </a:xfrm>
          <a:prstGeom prst="ellipse">
            <a:avLst/>
          </a:prstGeom>
          <a:solidFill>
            <a:srgbClr val="E3DAAF"/>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106C53E-CA32-471E-9032-CBB461621525}"/>
              </a:ext>
            </a:extLst>
          </p:cNvPr>
          <p:cNvSpPr txBox="1"/>
          <p:nvPr/>
        </p:nvSpPr>
        <p:spPr>
          <a:xfrm>
            <a:off x="4885834" y="3093972"/>
            <a:ext cx="2420331" cy="670055"/>
          </a:xfrm>
          <a:prstGeom prst="rect">
            <a:avLst/>
          </a:prstGeom>
          <a:noFill/>
        </p:spPr>
        <p:txBody>
          <a:bodyPr wrap="square">
            <a:spAutoFit/>
          </a:bodyPr>
          <a:lstStyle/>
          <a:p>
            <a:pPr marR="0" lvl="0" algn="ctr">
              <a:lnSpc>
                <a:spcPct val="107000"/>
              </a:lnSpc>
              <a:spcBef>
                <a:spcPts val="0"/>
              </a:spcBef>
              <a:spcAft>
                <a:spcPts val="800"/>
              </a:spcAft>
            </a:pPr>
            <a:r>
              <a:rPr lang="en-GB" sz="18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Impacted Stakeholders</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Oval 7">
            <a:extLst>
              <a:ext uri="{FF2B5EF4-FFF2-40B4-BE49-F238E27FC236}">
                <a16:creationId xmlns:a16="http://schemas.microsoft.com/office/drawing/2014/main" id="{9B4EF9A5-8926-4C5B-9331-D772667319B7}"/>
              </a:ext>
            </a:extLst>
          </p:cNvPr>
          <p:cNvSpPr/>
          <p:nvPr/>
        </p:nvSpPr>
        <p:spPr>
          <a:xfrm>
            <a:off x="4410718" y="1851555"/>
            <a:ext cx="3412503" cy="3148553"/>
          </a:xfrm>
          <a:prstGeom prst="ellipse">
            <a:avLst/>
          </a:prstGeom>
          <a:noFill/>
          <a:ln w="76200">
            <a:solidFill>
              <a:srgbClr val="F1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D30F3EB-4F43-4F3F-B1D6-A66B5E33DC95}"/>
              </a:ext>
            </a:extLst>
          </p:cNvPr>
          <p:cNvSpPr/>
          <p:nvPr/>
        </p:nvSpPr>
        <p:spPr>
          <a:xfrm>
            <a:off x="4587947" y="1895787"/>
            <a:ext cx="640080" cy="640080"/>
          </a:xfrm>
          <a:prstGeom prst="ellipse">
            <a:avLst/>
          </a:prstGeom>
          <a:solidFill>
            <a:srgbClr val="E3DA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FBC8FEC-E86F-49EE-9335-E8E536C443A8}"/>
              </a:ext>
            </a:extLst>
          </p:cNvPr>
          <p:cNvSpPr/>
          <p:nvPr/>
        </p:nvSpPr>
        <p:spPr>
          <a:xfrm>
            <a:off x="5721842" y="1448678"/>
            <a:ext cx="640080" cy="653748"/>
          </a:xfrm>
          <a:prstGeom prst="ellipse">
            <a:avLst/>
          </a:prstGeom>
          <a:solidFill>
            <a:srgbClr val="F1F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B67500A-0716-4C99-82C5-98E031BBA56F}"/>
              </a:ext>
            </a:extLst>
          </p:cNvPr>
          <p:cNvSpPr/>
          <p:nvPr/>
        </p:nvSpPr>
        <p:spPr>
          <a:xfrm>
            <a:off x="6906074" y="1841307"/>
            <a:ext cx="593889" cy="653748"/>
          </a:xfrm>
          <a:prstGeom prst="ellipse">
            <a:avLst/>
          </a:prstGeom>
          <a:solidFill>
            <a:srgbClr val="FCC7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2E602B1-0A53-4EE1-83B6-2FC1A3886326}"/>
              </a:ext>
            </a:extLst>
          </p:cNvPr>
          <p:cNvSpPr/>
          <p:nvPr/>
        </p:nvSpPr>
        <p:spPr>
          <a:xfrm>
            <a:off x="7531113" y="2964546"/>
            <a:ext cx="593889" cy="653748"/>
          </a:xfrm>
          <a:prstGeom prst="ellipse">
            <a:avLst/>
          </a:prstGeom>
          <a:solidFill>
            <a:srgbClr val="FCC7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3829551-43AD-4C08-8236-DED8683C881F}"/>
              </a:ext>
            </a:extLst>
          </p:cNvPr>
          <p:cNvSpPr/>
          <p:nvPr/>
        </p:nvSpPr>
        <p:spPr>
          <a:xfrm>
            <a:off x="7075131" y="4168382"/>
            <a:ext cx="593889" cy="653748"/>
          </a:xfrm>
          <a:prstGeom prst="ellipse">
            <a:avLst/>
          </a:prstGeom>
          <a:solidFill>
            <a:srgbClr val="FCC7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13EA197-A0C2-49D5-ABE2-DB016FD21CD6}"/>
              </a:ext>
            </a:extLst>
          </p:cNvPr>
          <p:cNvSpPr/>
          <p:nvPr/>
        </p:nvSpPr>
        <p:spPr>
          <a:xfrm>
            <a:off x="5820026" y="4693607"/>
            <a:ext cx="593889" cy="653748"/>
          </a:xfrm>
          <a:prstGeom prst="ellipse">
            <a:avLst/>
          </a:prstGeom>
          <a:solidFill>
            <a:srgbClr val="F1FC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E90496E-35BB-4E04-A227-2890BF7CBEEC}"/>
              </a:ext>
            </a:extLst>
          </p:cNvPr>
          <p:cNvSpPr/>
          <p:nvPr/>
        </p:nvSpPr>
        <p:spPr>
          <a:xfrm>
            <a:off x="4499963" y="4189683"/>
            <a:ext cx="593889" cy="653748"/>
          </a:xfrm>
          <a:prstGeom prst="ellipse">
            <a:avLst/>
          </a:prstGeom>
          <a:solidFill>
            <a:srgbClr val="E3DA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52C86234-D724-44DE-AFAF-B11D3243EFF5}"/>
              </a:ext>
            </a:extLst>
          </p:cNvPr>
          <p:cNvSpPr/>
          <p:nvPr/>
        </p:nvSpPr>
        <p:spPr>
          <a:xfrm>
            <a:off x="4085061" y="3035901"/>
            <a:ext cx="593889" cy="653748"/>
          </a:xfrm>
          <a:prstGeom prst="ellipse">
            <a:avLst/>
          </a:prstGeom>
          <a:solidFill>
            <a:srgbClr val="E3DA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Graphic 37" descr="Employee badge outline">
            <a:extLst>
              <a:ext uri="{FF2B5EF4-FFF2-40B4-BE49-F238E27FC236}">
                <a16:creationId xmlns:a16="http://schemas.microsoft.com/office/drawing/2014/main" id="{C2690140-9691-4290-A344-837BF2C4F0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41679" y="1555930"/>
            <a:ext cx="379620" cy="379620"/>
          </a:xfrm>
          <a:prstGeom prst="rect">
            <a:avLst/>
          </a:prstGeom>
        </p:spPr>
      </p:pic>
      <p:sp>
        <p:nvSpPr>
          <p:cNvPr id="43" name="Rectangle: Rounded Corners 42">
            <a:extLst>
              <a:ext uri="{FF2B5EF4-FFF2-40B4-BE49-F238E27FC236}">
                <a16:creationId xmlns:a16="http://schemas.microsoft.com/office/drawing/2014/main" id="{9B8ABA56-72DC-4835-894A-9CA124DB936D}"/>
              </a:ext>
            </a:extLst>
          </p:cNvPr>
          <p:cNvSpPr/>
          <p:nvPr/>
        </p:nvSpPr>
        <p:spPr>
          <a:xfrm>
            <a:off x="5090365" y="329007"/>
            <a:ext cx="1779241" cy="906883"/>
          </a:xfrm>
          <a:prstGeom prst="roundRect">
            <a:avLst/>
          </a:prstGeom>
          <a:noFill/>
          <a:ln w="38100">
            <a:solidFill>
              <a:srgbClr val="F1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DFE250F4-9788-4695-A30B-CFFFFBB34164}"/>
              </a:ext>
            </a:extLst>
          </p:cNvPr>
          <p:cNvSpPr txBox="1"/>
          <p:nvPr/>
        </p:nvSpPr>
        <p:spPr>
          <a:xfrm>
            <a:off x="5434746" y="620162"/>
            <a:ext cx="1090478" cy="311239"/>
          </a:xfrm>
          <a:prstGeom prst="rect">
            <a:avLst/>
          </a:prstGeom>
          <a:noFill/>
        </p:spPr>
        <p:txBody>
          <a:bodyPr wrap="square">
            <a:spAutoFit/>
          </a:bodyPr>
          <a:lstStyle/>
          <a:p>
            <a:pPr marR="0" lvl="0">
              <a:lnSpc>
                <a:spcPct val="107000"/>
              </a:lnSpc>
              <a:spcBef>
                <a:spcPts val="0"/>
              </a:spcBef>
              <a:spcAft>
                <a:spcPts val="800"/>
              </a:spcAft>
            </a:pPr>
            <a:r>
              <a:rPr lang="en-GB" sz="14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Employees</a:t>
            </a:r>
            <a:endParaRPr lang="en-US" sz="14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6" name="Double Bracket 45">
            <a:extLst>
              <a:ext uri="{FF2B5EF4-FFF2-40B4-BE49-F238E27FC236}">
                <a16:creationId xmlns:a16="http://schemas.microsoft.com/office/drawing/2014/main" id="{320258CE-DFA8-4A98-A034-0DFF765C4264}"/>
              </a:ext>
            </a:extLst>
          </p:cNvPr>
          <p:cNvSpPr/>
          <p:nvPr/>
        </p:nvSpPr>
        <p:spPr>
          <a:xfrm>
            <a:off x="4944545" y="280515"/>
            <a:ext cx="2089591" cy="974499"/>
          </a:xfrm>
          <a:prstGeom prst="bracketPair">
            <a:avLst/>
          </a:prstGeom>
          <a:ln>
            <a:solidFill>
              <a:srgbClr val="F1FCF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Rectangle: Rounded Corners 46">
            <a:extLst>
              <a:ext uri="{FF2B5EF4-FFF2-40B4-BE49-F238E27FC236}">
                <a16:creationId xmlns:a16="http://schemas.microsoft.com/office/drawing/2014/main" id="{3DBDA0A7-ED44-42C2-9DC1-61EDEEE8D2D0}"/>
              </a:ext>
            </a:extLst>
          </p:cNvPr>
          <p:cNvSpPr/>
          <p:nvPr/>
        </p:nvSpPr>
        <p:spPr>
          <a:xfrm>
            <a:off x="8099258" y="1608086"/>
            <a:ext cx="1779241" cy="906883"/>
          </a:xfrm>
          <a:prstGeom prst="roundRect">
            <a:avLst/>
          </a:prstGeom>
          <a:noFill/>
          <a:ln w="38100">
            <a:solidFill>
              <a:srgbClr val="FCC7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Double Bracket 48">
            <a:extLst>
              <a:ext uri="{FF2B5EF4-FFF2-40B4-BE49-F238E27FC236}">
                <a16:creationId xmlns:a16="http://schemas.microsoft.com/office/drawing/2014/main" id="{5678BA62-ED63-4F0B-8E4C-5B32B75D1411}"/>
              </a:ext>
            </a:extLst>
          </p:cNvPr>
          <p:cNvSpPr/>
          <p:nvPr/>
        </p:nvSpPr>
        <p:spPr>
          <a:xfrm>
            <a:off x="7944084" y="1585821"/>
            <a:ext cx="2089591" cy="974499"/>
          </a:xfrm>
          <a:prstGeom prst="bracketPair">
            <a:avLst/>
          </a:prstGeom>
          <a:ln>
            <a:solidFill>
              <a:srgbClr val="FCC79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F0A6AC75-E2B0-409E-BC38-092610764B49}"/>
              </a:ext>
            </a:extLst>
          </p:cNvPr>
          <p:cNvSpPr/>
          <p:nvPr/>
        </p:nvSpPr>
        <p:spPr>
          <a:xfrm>
            <a:off x="8737046" y="2962782"/>
            <a:ext cx="1779241" cy="906883"/>
          </a:xfrm>
          <a:prstGeom prst="roundRect">
            <a:avLst/>
          </a:prstGeom>
          <a:noFill/>
          <a:ln w="38100">
            <a:solidFill>
              <a:srgbClr val="FCC7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Double Bracket 50">
            <a:extLst>
              <a:ext uri="{FF2B5EF4-FFF2-40B4-BE49-F238E27FC236}">
                <a16:creationId xmlns:a16="http://schemas.microsoft.com/office/drawing/2014/main" id="{88892292-A29E-4906-9E9B-68E76CAAFA67}"/>
              </a:ext>
            </a:extLst>
          </p:cNvPr>
          <p:cNvSpPr/>
          <p:nvPr/>
        </p:nvSpPr>
        <p:spPr>
          <a:xfrm>
            <a:off x="8570776" y="2932268"/>
            <a:ext cx="2089591" cy="974499"/>
          </a:xfrm>
          <a:prstGeom prst="bracketPair">
            <a:avLst/>
          </a:prstGeom>
          <a:ln>
            <a:solidFill>
              <a:srgbClr val="FCC79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98EA8CF0-8DAD-4606-B339-B6F884BEA7D1}"/>
              </a:ext>
            </a:extLst>
          </p:cNvPr>
          <p:cNvSpPr/>
          <p:nvPr/>
        </p:nvSpPr>
        <p:spPr>
          <a:xfrm>
            <a:off x="7865445" y="4945171"/>
            <a:ext cx="1779241" cy="906883"/>
          </a:xfrm>
          <a:prstGeom prst="roundRect">
            <a:avLst/>
          </a:prstGeom>
          <a:noFill/>
          <a:ln w="38100">
            <a:solidFill>
              <a:srgbClr val="FCC7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Double Bracket 52">
            <a:extLst>
              <a:ext uri="{FF2B5EF4-FFF2-40B4-BE49-F238E27FC236}">
                <a16:creationId xmlns:a16="http://schemas.microsoft.com/office/drawing/2014/main" id="{FD49AD78-C6C2-452E-8A56-2D70DE040B47}"/>
              </a:ext>
            </a:extLst>
          </p:cNvPr>
          <p:cNvSpPr/>
          <p:nvPr/>
        </p:nvSpPr>
        <p:spPr>
          <a:xfrm>
            <a:off x="7699659" y="4918367"/>
            <a:ext cx="2089591" cy="974499"/>
          </a:xfrm>
          <a:prstGeom prst="bracketPair">
            <a:avLst/>
          </a:prstGeom>
          <a:ln>
            <a:solidFill>
              <a:srgbClr val="FCC79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3DEA15BB-371A-42D0-B32B-35976E1110D5}"/>
              </a:ext>
            </a:extLst>
          </p:cNvPr>
          <p:cNvSpPr/>
          <p:nvPr/>
        </p:nvSpPr>
        <p:spPr>
          <a:xfrm>
            <a:off x="5329636" y="5645448"/>
            <a:ext cx="1779241" cy="906883"/>
          </a:xfrm>
          <a:prstGeom prst="roundRect">
            <a:avLst/>
          </a:prstGeom>
          <a:noFill/>
          <a:ln w="38100">
            <a:solidFill>
              <a:srgbClr val="F1FC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Double Bracket 54">
            <a:extLst>
              <a:ext uri="{FF2B5EF4-FFF2-40B4-BE49-F238E27FC236}">
                <a16:creationId xmlns:a16="http://schemas.microsoft.com/office/drawing/2014/main" id="{E4AC3927-3FA2-4377-9073-460855E7D9E9}"/>
              </a:ext>
            </a:extLst>
          </p:cNvPr>
          <p:cNvSpPr/>
          <p:nvPr/>
        </p:nvSpPr>
        <p:spPr>
          <a:xfrm>
            <a:off x="5183380" y="5621809"/>
            <a:ext cx="2089591" cy="974499"/>
          </a:xfrm>
          <a:prstGeom prst="bracketPair">
            <a:avLst/>
          </a:prstGeom>
          <a:ln>
            <a:solidFill>
              <a:srgbClr val="F1FCF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6" name="Rectangle: Rounded Corners 55">
            <a:extLst>
              <a:ext uri="{FF2B5EF4-FFF2-40B4-BE49-F238E27FC236}">
                <a16:creationId xmlns:a16="http://schemas.microsoft.com/office/drawing/2014/main" id="{B440FE5B-7A89-41EF-B14A-E326D1CC8F26}"/>
              </a:ext>
            </a:extLst>
          </p:cNvPr>
          <p:cNvSpPr/>
          <p:nvPr/>
        </p:nvSpPr>
        <p:spPr>
          <a:xfrm>
            <a:off x="2899709" y="5057753"/>
            <a:ext cx="1779241" cy="906883"/>
          </a:xfrm>
          <a:prstGeom prst="roundRect">
            <a:avLst/>
          </a:prstGeom>
          <a:noFill/>
          <a:ln w="38100">
            <a:solidFill>
              <a:srgbClr val="E3DA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Double Bracket 56">
            <a:extLst>
              <a:ext uri="{FF2B5EF4-FFF2-40B4-BE49-F238E27FC236}">
                <a16:creationId xmlns:a16="http://schemas.microsoft.com/office/drawing/2014/main" id="{3D41837B-A660-4FBE-818A-E536F5588BE0}"/>
              </a:ext>
            </a:extLst>
          </p:cNvPr>
          <p:cNvSpPr/>
          <p:nvPr/>
        </p:nvSpPr>
        <p:spPr>
          <a:xfrm>
            <a:off x="2744533" y="5032483"/>
            <a:ext cx="2089591" cy="974499"/>
          </a:xfrm>
          <a:prstGeom prst="bracketPair">
            <a:avLst/>
          </a:prstGeom>
          <a:ln>
            <a:solidFill>
              <a:srgbClr val="E3DAA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8" name="Rectangle: Rounded Corners 57">
            <a:extLst>
              <a:ext uri="{FF2B5EF4-FFF2-40B4-BE49-F238E27FC236}">
                <a16:creationId xmlns:a16="http://schemas.microsoft.com/office/drawing/2014/main" id="{97A6E4DB-0194-43CE-A203-579624C64771}"/>
              </a:ext>
            </a:extLst>
          </p:cNvPr>
          <p:cNvSpPr/>
          <p:nvPr/>
        </p:nvSpPr>
        <p:spPr>
          <a:xfrm>
            <a:off x="1722058" y="2962782"/>
            <a:ext cx="1779241" cy="906883"/>
          </a:xfrm>
          <a:prstGeom prst="roundRect">
            <a:avLst/>
          </a:prstGeom>
          <a:noFill/>
          <a:ln w="38100">
            <a:solidFill>
              <a:srgbClr val="E3DA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Double Bracket 58">
            <a:extLst>
              <a:ext uri="{FF2B5EF4-FFF2-40B4-BE49-F238E27FC236}">
                <a16:creationId xmlns:a16="http://schemas.microsoft.com/office/drawing/2014/main" id="{705DAF15-547C-4697-BAD6-0BA334AF0CBD}"/>
              </a:ext>
            </a:extLst>
          </p:cNvPr>
          <p:cNvSpPr/>
          <p:nvPr/>
        </p:nvSpPr>
        <p:spPr>
          <a:xfrm>
            <a:off x="1545434" y="2941310"/>
            <a:ext cx="2089591" cy="974499"/>
          </a:xfrm>
          <a:prstGeom prst="bracketPair">
            <a:avLst/>
          </a:prstGeom>
          <a:ln>
            <a:solidFill>
              <a:srgbClr val="E3DAA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0" name="Rectangle: Rounded Corners 59">
            <a:extLst>
              <a:ext uri="{FF2B5EF4-FFF2-40B4-BE49-F238E27FC236}">
                <a16:creationId xmlns:a16="http://schemas.microsoft.com/office/drawing/2014/main" id="{9951ABB6-394C-4CD4-8E66-3CB8F40EC7C9}"/>
              </a:ext>
            </a:extLst>
          </p:cNvPr>
          <p:cNvSpPr/>
          <p:nvPr/>
        </p:nvSpPr>
        <p:spPr>
          <a:xfrm>
            <a:off x="2399741" y="1638029"/>
            <a:ext cx="1779241" cy="906883"/>
          </a:xfrm>
          <a:prstGeom prst="roundRect">
            <a:avLst/>
          </a:prstGeom>
          <a:solidFill>
            <a:schemeClr val="bg1"/>
          </a:solidFill>
          <a:ln w="38100">
            <a:solidFill>
              <a:srgbClr val="E3DA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Double Bracket 60">
            <a:extLst>
              <a:ext uri="{FF2B5EF4-FFF2-40B4-BE49-F238E27FC236}">
                <a16:creationId xmlns:a16="http://schemas.microsoft.com/office/drawing/2014/main" id="{F1DF4645-8AAE-4887-AD0D-12F6E821E958}"/>
              </a:ext>
            </a:extLst>
          </p:cNvPr>
          <p:cNvSpPr/>
          <p:nvPr/>
        </p:nvSpPr>
        <p:spPr>
          <a:xfrm>
            <a:off x="2244303" y="1608086"/>
            <a:ext cx="2089591" cy="974499"/>
          </a:xfrm>
          <a:prstGeom prst="bracketPair">
            <a:avLst/>
          </a:prstGeom>
          <a:ln>
            <a:solidFill>
              <a:srgbClr val="E3DAA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 name="TextBox 62">
            <a:extLst>
              <a:ext uri="{FF2B5EF4-FFF2-40B4-BE49-F238E27FC236}">
                <a16:creationId xmlns:a16="http://schemas.microsoft.com/office/drawing/2014/main" id="{C81F4DDB-876C-4B02-83BC-65704DD26CE5}"/>
              </a:ext>
            </a:extLst>
          </p:cNvPr>
          <p:cNvSpPr txBox="1"/>
          <p:nvPr/>
        </p:nvSpPr>
        <p:spPr>
          <a:xfrm>
            <a:off x="8150930" y="1588052"/>
            <a:ext cx="1833875" cy="1002775"/>
          </a:xfrm>
          <a:prstGeom prst="rect">
            <a:avLst/>
          </a:prstGeom>
          <a:noFill/>
        </p:spPr>
        <p:txBody>
          <a:bodyPr wrap="square">
            <a:spAutoFit/>
          </a:bodyPr>
          <a:lstStyle/>
          <a:p>
            <a:pPr marR="0" lvl="0" algn="ctr">
              <a:lnSpc>
                <a:spcPct val="107000"/>
              </a:lnSpc>
              <a:spcBef>
                <a:spcPts val="0"/>
              </a:spcBef>
              <a:spcAft>
                <a:spcPts val="800"/>
              </a:spcAft>
            </a:pPr>
            <a:r>
              <a:rPr lang="en-GB" sz="14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Canteen Management  (Menu Manager, Order Processor)</a:t>
            </a:r>
            <a:endParaRPr lang="en-US" sz="14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5" name="TextBox 64">
            <a:extLst>
              <a:ext uri="{FF2B5EF4-FFF2-40B4-BE49-F238E27FC236}">
                <a16:creationId xmlns:a16="http://schemas.microsoft.com/office/drawing/2014/main" id="{47FF2A4B-032B-4C7E-8590-BFBB0ECC3400}"/>
              </a:ext>
            </a:extLst>
          </p:cNvPr>
          <p:cNvSpPr txBox="1"/>
          <p:nvPr/>
        </p:nvSpPr>
        <p:spPr>
          <a:xfrm>
            <a:off x="9331140" y="3254526"/>
            <a:ext cx="684529" cy="311239"/>
          </a:xfrm>
          <a:prstGeom prst="rect">
            <a:avLst/>
          </a:prstGeom>
          <a:noFill/>
        </p:spPr>
        <p:txBody>
          <a:bodyPr wrap="square">
            <a:spAutoFit/>
          </a:bodyPr>
          <a:lstStyle/>
          <a:p>
            <a:pPr marR="0" lvl="0">
              <a:lnSpc>
                <a:spcPct val="107000"/>
              </a:lnSpc>
              <a:spcBef>
                <a:spcPts val="0"/>
              </a:spcBef>
              <a:spcAft>
                <a:spcPts val="800"/>
              </a:spcAft>
            </a:pPr>
            <a:r>
              <a:rPr lang="en-GB" sz="14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Chef</a:t>
            </a:r>
            <a:endParaRPr lang="en-US" sz="14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7" name="TextBox 66">
            <a:extLst>
              <a:ext uri="{FF2B5EF4-FFF2-40B4-BE49-F238E27FC236}">
                <a16:creationId xmlns:a16="http://schemas.microsoft.com/office/drawing/2014/main" id="{3FDC8D9B-1C0D-4FB1-839A-A8500D33D6E8}"/>
              </a:ext>
            </a:extLst>
          </p:cNvPr>
          <p:cNvSpPr txBox="1"/>
          <p:nvPr/>
        </p:nvSpPr>
        <p:spPr>
          <a:xfrm>
            <a:off x="8062450" y="5100646"/>
            <a:ext cx="1349191" cy="541751"/>
          </a:xfrm>
          <a:prstGeom prst="rect">
            <a:avLst/>
          </a:prstGeom>
          <a:noFill/>
        </p:spPr>
        <p:txBody>
          <a:bodyPr wrap="square">
            <a:spAutoFit/>
          </a:bodyPr>
          <a:lstStyle/>
          <a:p>
            <a:pPr marR="0" lvl="0" algn="ctr">
              <a:lnSpc>
                <a:spcPct val="107000"/>
              </a:lnSpc>
              <a:spcBef>
                <a:spcPts val="0"/>
              </a:spcBef>
              <a:spcAft>
                <a:spcPts val="800"/>
              </a:spcAft>
            </a:pPr>
            <a:r>
              <a:rPr lang="en-GB" sz="14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Delivery Personnel</a:t>
            </a:r>
            <a:endParaRPr lang="en-US" sz="14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9" name="TextBox 68">
            <a:extLst>
              <a:ext uri="{FF2B5EF4-FFF2-40B4-BE49-F238E27FC236}">
                <a16:creationId xmlns:a16="http://schemas.microsoft.com/office/drawing/2014/main" id="{794C18B2-AB14-4391-8D0B-CA1B0D023F5F}"/>
              </a:ext>
            </a:extLst>
          </p:cNvPr>
          <p:cNvSpPr txBox="1"/>
          <p:nvPr/>
        </p:nvSpPr>
        <p:spPr>
          <a:xfrm>
            <a:off x="5389721" y="5710830"/>
            <a:ext cx="1595221" cy="796455"/>
          </a:xfrm>
          <a:prstGeom prst="rect">
            <a:avLst/>
          </a:prstGeom>
          <a:noFill/>
        </p:spPr>
        <p:txBody>
          <a:bodyPr wrap="square">
            <a:spAutoFit/>
          </a:bodyPr>
          <a:lstStyle/>
          <a:p>
            <a:pPr marR="0" lvl="0" algn="ctr">
              <a:lnSpc>
                <a:spcPct val="107000"/>
              </a:lnSpc>
              <a:spcBef>
                <a:spcPts val="0"/>
              </a:spcBef>
              <a:spcAft>
                <a:spcPts val="800"/>
              </a:spcAft>
            </a:pPr>
            <a:r>
              <a:rPr lang="en-GB" sz="14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HR Department (for Payroll deductions)</a:t>
            </a:r>
            <a:endParaRPr lang="en-US" sz="14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1" name="TextBox 70">
            <a:extLst>
              <a:ext uri="{FF2B5EF4-FFF2-40B4-BE49-F238E27FC236}">
                <a16:creationId xmlns:a16="http://schemas.microsoft.com/office/drawing/2014/main" id="{291420A5-543F-4E74-B123-6A703070E2E2}"/>
              </a:ext>
            </a:extLst>
          </p:cNvPr>
          <p:cNvSpPr txBox="1"/>
          <p:nvPr/>
        </p:nvSpPr>
        <p:spPr>
          <a:xfrm>
            <a:off x="2899109" y="5006445"/>
            <a:ext cx="1840280" cy="1002775"/>
          </a:xfrm>
          <a:prstGeom prst="rect">
            <a:avLst/>
          </a:prstGeom>
          <a:noFill/>
        </p:spPr>
        <p:txBody>
          <a:bodyPr wrap="square">
            <a:spAutoFit/>
          </a:bodyPr>
          <a:lstStyle/>
          <a:p>
            <a:pPr marR="0" lvl="0" algn="ctr">
              <a:lnSpc>
                <a:spcPct val="107000"/>
              </a:lnSpc>
              <a:spcBef>
                <a:spcPts val="0"/>
              </a:spcBef>
              <a:spcAft>
                <a:spcPts val="800"/>
              </a:spcAft>
            </a:pPr>
            <a:r>
              <a:rPr lang="en-GB" sz="14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IT Department (for System Implementation and Maintenance)</a:t>
            </a:r>
            <a:endParaRPr lang="en-US" sz="14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3" name="TextBox 72">
            <a:extLst>
              <a:ext uri="{FF2B5EF4-FFF2-40B4-BE49-F238E27FC236}">
                <a16:creationId xmlns:a16="http://schemas.microsoft.com/office/drawing/2014/main" id="{2B282EFF-6F9E-4E56-AE16-EE653FD67ECF}"/>
              </a:ext>
            </a:extLst>
          </p:cNvPr>
          <p:cNvSpPr txBox="1"/>
          <p:nvPr/>
        </p:nvSpPr>
        <p:spPr>
          <a:xfrm>
            <a:off x="1898831" y="3088448"/>
            <a:ext cx="1565000" cy="541751"/>
          </a:xfrm>
          <a:prstGeom prst="rect">
            <a:avLst/>
          </a:prstGeom>
          <a:noFill/>
        </p:spPr>
        <p:txBody>
          <a:bodyPr wrap="square">
            <a:spAutoFit/>
          </a:bodyPr>
          <a:lstStyle/>
          <a:p>
            <a:pPr marR="0" lvl="0" algn="ctr">
              <a:lnSpc>
                <a:spcPct val="107000"/>
              </a:lnSpc>
              <a:spcBef>
                <a:spcPts val="0"/>
              </a:spcBef>
              <a:spcAft>
                <a:spcPts val="800"/>
              </a:spcAft>
            </a:pPr>
            <a:r>
              <a:rPr lang="en-GB" sz="14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Senior Management</a:t>
            </a:r>
            <a:endParaRPr lang="en-US" sz="14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5" name="TextBox 74">
            <a:extLst>
              <a:ext uri="{FF2B5EF4-FFF2-40B4-BE49-F238E27FC236}">
                <a16:creationId xmlns:a16="http://schemas.microsoft.com/office/drawing/2014/main" id="{2CEA1DE9-D1F1-46E5-97ED-F8D798C97E7C}"/>
              </a:ext>
            </a:extLst>
          </p:cNvPr>
          <p:cNvSpPr txBox="1"/>
          <p:nvPr/>
        </p:nvSpPr>
        <p:spPr>
          <a:xfrm>
            <a:off x="2571029" y="1790829"/>
            <a:ext cx="1565000" cy="541751"/>
          </a:xfrm>
          <a:prstGeom prst="rect">
            <a:avLst/>
          </a:prstGeom>
          <a:noFill/>
        </p:spPr>
        <p:txBody>
          <a:bodyPr wrap="square">
            <a:spAutoFit/>
          </a:bodyPr>
          <a:lstStyle/>
          <a:p>
            <a:pPr marR="0" lvl="0" algn="ctr">
              <a:lnSpc>
                <a:spcPct val="107000"/>
              </a:lnSpc>
              <a:spcBef>
                <a:spcPts val="0"/>
              </a:spcBef>
              <a:spcAft>
                <a:spcPts val="800"/>
              </a:spcAft>
            </a:pPr>
            <a:r>
              <a:rPr lang="en-GB" sz="1400" b="1" kern="0" dirty="0">
                <a:solidFill>
                  <a:srgbClr val="374151"/>
                </a:solidFill>
                <a:effectLst/>
                <a:latin typeface="Segoe UI" panose="020B0502040204020203" pitchFamily="34" charset="0"/>
                <a:ea typeface="Times New Roman" panose="02020603050405020304" pitchFamily="18" charset="0"/>
                <a:cs typeface="Times New Roman" panose="02020603050405020304" pitchFamily="18" charset="0"/>
              </a:rPr>
              <a:t>Users providing feedback</a:t>
            </a:r>
            <a:endParaRPr lang="en-US" sz="1400" b="1"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9" name="Graphic 28" descr="Cycle with people outline">
            <a:extLst>
              <a:ext uri="{FF2B5EF4-FFF2-40B4-BE49-F238E27FC236}">
                <a16:creationId xmlns:a16="http://schemas.microsoft.com/office/drawing/2014/main" id="{40B2ABB0-1EDB-4181-AE7A-29661A02305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16762" y="4710612"/>
            <a:ext cx="582499" cy="582499"/>
          </a:xfrm>
          <a:prstGeom prst="rect">
            <a:avLst/>
          </a:prstGeom>
        </p:spPr>
      </p:pic>
      <p:pic>
        <p:nvPicPr>
          <p:cNvPr id="32" name="Graphic 31" descr="Programmer female outline">
            <a:extLst>
              <a:ext uri="{FF2B5EF4-FFF2-40B4-BE49-F238E27FC236}">
                <a16:creationId xmlns:a16="http://schemas.microsoft.com/office/drawing/2014/main" id="{63DC0561-D380-4FE6-A0A3-6D70C4263C8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99963" y="4178999"/>
            <a:ext cx="582499" cy="582499"/>
          </a:xfrm>
          <a:prstGeom prst="rect">
            <a:avLst/>
          </a:prstGeom>
        </p:spPr>
      </p:pic>
      <p:pic>
        <p:nvPicPr>
          <p:cNvPr id="34" name="Graphic 33" descr="Board Of Directors outline">
            <a:extLst>
              <a:ext uri="{FF2B5EF4-FFF2-40B4-BE49-F238E27FC236}">
                <a16:creationId xmlns:a16="http://schemas.microsoft.com/office/drawing/2014/main" id="{7B711644-3B82-47A5-B1BC-32891800432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155083" y="3132433"/>
            <a:ext cx="478170" cy="478170"/>
          </a:xfrm>
          <a:prstGeom prst="rect">
            <a:avLst/>
          </a:prstGeom>
        </p:spPr>
      </p:pic>
      <p:pic>
        <p:nvPicPr>
          <p:cNvPr id="36" name="Graphic 35" descr="Newspaper outline">
            <a:extLst>
              <a:ext uri="{FF2B5EF4-FFF2-40B4-BE49-F238E27FC236}">
                <a16:creationId xmlns:a16="http://schemas.microsoft.com/office/drawing/2014/main" id="{6FA26155-6918-4789-982F-A84BC62D186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06897" y="1907552"/>
            <a:ext cx="582499" cy="582499"/>
          </a:xfrm>
          <a:prstGeom prst="rect">
            <a:avLst/>
          </a:prstGeom>
        </p:spPr>
      </p:pic>
      <p:pic>
        <p:nvPicPr>
          <p:cNvPr id="40" name="Graphic 39" descr="Chef male outline">
            <a:extLst>
              <a:ext uri="{FF2B5EF4-FFF2-40B4-BE49-F238E27FC236}">
                <a16:creationId xmlns:a16="http://schemas.microsoft.com/office/drawing/2014/main" id="{CA1FD820-F6E4-484E-B6F0-B650DDCE038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576622" y="3035901"/>
            <a:ext cx="457199" cy="457199"/>
          </a:xfrm>
          <a:prstGeom prst="rect">
            <a:avLst/>
          </a:prstGeom>
        </p:spPr>
      </p:pic>
      <p:pic>
        <p:nvPicPr>
          <p:cNvPr id="42" name="Graphic 41" descr="Delivery outline">
            <a:extLst>
              <a:ext uri="{FF2B5EF4-FFF2-40B4-BE49-F238E27FC236}">
                <a16:creationId xmlns:a16="http://schemas.microsoft.com/office/drawing/2014/main" id="{3BAF31ED-EB05-43A0-A3F0-CCE99D9394B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086521" y="4182261"/>
            <a:ext cx="588165" cy="588165"/>
          </a:xfrm>
          <a:prstGeom prst="rect">
            <a:avLst/>
          </a:prstGeom>
        </p:spPr>
      </p:pic>
      <p:pic>
        <p:nvPicPr>
          <p:cNvPr id="48" name="Graphic 47" descr="Menu with solid fill">
            <a:extLst>
              <a:ext uri="{FF2B5EF4-FFF2-40B4-BE49-F238E27FC236}">
                <a16:creationId xmlns:a16="http://schemas.microsoft.com/office/drawing/2014/main" id="{DC1EB8A9-84A6-45BF-81FF-71A7C59939D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985163" y="1895358"/>
            <a:ext cx="478170" cy="478170"/>
          </a:xfrm>
          <a:prstGeom prst="rect">
            <a:avLst/>
          </a:prstGeom>
        </p:spPr>
      </p:pic>
    </p:spTree>
    <p:extLst>
      <p:ext uri="{BB962C8B-B14F-4D97-AF65-F5344CB8AC3E}">
        <p14:creationId xmlns:p14="http://schemas.microsoft.com/office/powerpoint/2010/main" val="4143748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B508057-32DE-4A92-AE82-1B08341DCC95}"/>
              </a:ext>
            </a:extLst>
          </p:cNvPr>
          <p:cNvGraphicFramePr>
            <a:graphicFrameLocks noGrp="1"/>
          </p:cNvGraphicFramePr>
          <p:nvPr>
            <p:extLst>
              <p:ext uri="{D42A27DB-BD31-4B8C-83A1-F6EECF244321}">
                <p14:modId xmlns:p14="http://schemas.microsoft.com/office/powerpoint/2010/main" val="1891532812"/>
              </p:ext>
            </p:extLst>
          </p:nvPr>
        </p:nvGraphicFramePr>
        <p:xfrm>
          <a:off x="1027522" y="1291472"/>
          <a:ext cx="9945280" cy="4703976"/>
        </p:xfrm>
        <a:graphic>
          <a:graphicData uri="http://schemas.openxmlformats.org/drawingml/2006/table">
            <a:tbl>
              <a:tblPr firstRow="1" firstCol="1" bandRow="1">
                <a:tableStyleId>{C083E6E3-FA7D-4D7B-A595-EF9225AFEA82}</a:tableStyleId>
              </a:tblPr>
              <a:tblGrid>
                <a:gridCol w="2075584">
                  <a:extLst>
                    <a:ext uri="{9D8B030D-6E8A-4147-A177-3AD203B41FA5}">
                      <a16:colId xmlns:a16="http://schemas.microsoft.com/office/drawing/2014/main" val="1731387635"/>
                    </a:ext>
                  </a:extLst>
                </a:gridCol>
                <a:gridCol w="2443326">
                  <a:extLst>
                    <a:ext uri="{9D8B030D-6E8A-4147-A177-3AD203B41FA5}">
                      <a16:colId xmlns:a16="http://schemas.microsoft.com/office/drawing/2014/main" val="450542010"/>
                    </a:ext>
                  </a:extLst>
                </a:gridCol>
                <a:gridCol w="2432511">
                  <a:extLst>
                    <a:ext uri="{9D8B030D-6E8A-4147-A177-3AD203B41FA5}">
                      <a16:colId xmlns:a16="http://schemas.microsoft.com/office/drawing/2014/main" val="1879351955"/>
                    </a:ext>
                  </a:extLst>
                </a:gridCol>
                <a:gridCol w="2993859">
                  <a:extLst>
                    <a:ext uri="{9D8B030D-6E8A-4147-A177-3AD203B41FA5}">
                      <a16:colId xmlns:a16="http://schemas.microsoft.com/office/drawing/2014/main" val="1733484692"/>
                    </a:ext>
                  </a:extLst>
                </a:gridCol>
              </a:tblGrid>
              <a:tr h="269001">
                <a:tc>
                  <a:txBody>
                    <a:bodyPr/>
                    <a:lstStyle/>
                    <a:p>
                      <a:pPr marL="0" marR="0" algn="ctr">
                        <a:lnSpc>
                          <a:spcPct val="107000"/>
                        </a:lnSpc>
                        <a:spcBef>
                          <a:spcPts val="0"/>
                        </a:spcBef>
                        <a:spcAft>
                          <a:spcPts val="0"/>
                        </a:spcAft>
                      </a:pPr>
                      <a:r>
                        <a:rPr lang="en-GB" sz="1100" b="1" kern="0">
                          <a:effectLst/>
                        </a:rPr>
                        <a:t>Stakeholder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gn="ctr">
                        <a:lnSpc>
                          <a:spcPct val="107000"/>
                        </a:lnSpc>
                        <a:spcBef>
                          <a:spcPts val="0"/>
                        </a:spcBef>
                        <a:spcAft>
                          <a:spcPts val="0"/>
                        </a:spcAft>
                      </a:pPr>
                      <a:r>
                        <a:rPr lang="en-GB" sz="1100" b="1" kern="0">
                          <a:effectLst/>
                        </a:rPr>
                        <a:t>Interest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gn="ctr">
                        <a:lnSpc>
                          <a:spcPct val="107000"/>
                        </a:lnSpc>
                        <a:spcBef>
                          <a:spcPts val="0"/>
                        </a:spcBef>
                        <a:spcAft>
                          <a:spcPts val="0"/>
                        </a:spcAft>
                      </a:pPr>
                      <a:r>
                        <a:rPr lang="en-GB" sz="1100" b="1" kern="0">
                          <a:effectLst/>
                        </a:rPr>
                        <a:t>Impact on System</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gn="ctr">
                        <a:lnSpc>
                          <a:spcPct val="107000"/>
                        </a:lnSpc>
                        <a:spcBef>
                          <a:spcPts val="0"/>
                        </a:spcBef>
                        <a:spcAft>
                          <a:spcPts val="0"/>
                        </a:spcAft>
                      </a:pPr>
                      <a:r>
                        <a:rPr lang="en-GB" sz="1100" b="1" kern="0">
                          <a:effectLst/>
                        </a:rPr>
                        <a:t>Justifications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2066954340"/>
                  </a:ext>
                </a:extLst>
              </a:tr>
              <a:tr h="522664">
                <a:tc>
                  <a:txBody>
                    <a:bodyPr/>
                    <a:lstStyle/>
                    <a:p>
                      <a:pPr marL="0" marR="0">
                        <a:lnSpc>
                          <a:spcPct val="107000"/>
                        </a:lnSpc>
                        <a:spcBef>
                          <a:spcPts val="0"/>
                        </a:spcBef>
                        <a:spcAft>
                          <a:spcPts val="0"/>
                        </a:spcAft>
                      </a:pPr>
                      <a:r>
                        <a:rPr lang="en-GB" sz="1100" kern="0" dirty="0">
                          <a:effectLst/>
                        </a:rPr>
                        <a:t>Employees</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High interest, high power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High</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Primary users, affected by efficiency and service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3876558630"/>
                  </a:ext>
                </a:extLst>
              </a:tr>
              <a:tr h="522664">
                <a:tc>
                  <a:txBody>
                    <a:bodyPr/>
                    <a:lstStyle/>
                    <a:p>
                      <a:pPr marL="0" marR="0">
                        <a:lnSpc>
                          <a:spcPct val="107000"/>
                        </a:lnSpc>
                        <a:spcBef>
                          <a:spcPts val="0"/>
                        </a:spcBef>
                        <a:spcAft>
                          <a:spcPts val="0"/>
                        </a:spcAft>
                      </a:pPr>
                      <a:r>
                        <a:rPr lang="en-GB" sz="1100" kern="0">
                          <a:effectLst/>
                        </a:rPr>
                        <a:t>Canteen Management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High interest, high power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High</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Directly involved in system operation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2326137203"/>
                  </a:ext>
                </a:extLst>
              </a:tr>
              <a:tr h="522664">
                <a:tc>
                  <a:txBody>
                    <a:bodyPr/>
                    <a:lstStyle/>
                    <a:p>
                      <a:pPr marL="0" marR="0">
                        <a:lnSpc>
                          <a:spcPct val="107000"/>
                        </a:lnSpc>
                        <a:spcBef>
                          <a:spcPts val="0"/>
                        </a:spcBef>
                        <a:spcAft>
                          <a:spcPts val="0"/>
                        </a:spcAft>
                      </a:pPr>
                      <a:r>
                        <a:rPr lang="en-GB" sz="1100" kern="0">
                          <a:effectLst/>
                        </a:rPr>
                        <a:t>Chefs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dirty="0">
                          <a:effectLst/>
                        </a:rPr>
                        <a:t>Low interest, High power</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Medium</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Impacted by order volume and preparation time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2990094730"/>
                  </a:ext>
                </a:extLst>
              </a:tr>
              <a:tr h="522664">
                <a:tc>
                  <a:txBody>
                    <a:bodyPr/>
                    <a:lstStyle/>
                    <a:p>
                      <a:pPr marL="0" marR="0">
                        <a:lnSpc>
                          <a:spcPct val="107000"/>
                        </a:lnSpc>
                        <a:spcBef>
                          <a:spcPts val="0"/>
                        </a:spcBef>
                        <a:spcAft>
                          <a:spcPts val="0"/>
                        </a:spcAft>
                      </a:pPr>
                      <a:r>
                        <a:rPr lang="en-GB" sz="1100" kern="0">
                          <a:effectLst/>
                        </a:rPr>
                        <a:t>Delivery Personnel</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High interest, low power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Medium</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Affected by delivery coordination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3798468922"/>
                  </a:ext>
                </a:extLst>
              </a:tr>
              <a:tr h="522664">
                <a:tc>
                  <a:txBody>
                    <a:bodyPr/>
                    <a:lstStyle/>
                    <a:p>
                      <a:pPr marL="0" marR="0">
                        <a:lnSpc>
                          <a:spcPct val="107000"/>
                        </a:lnSpc>
                        <a:spcBef>
                          <a:spcPts val="0"/>
                        </a:spcBef>
                        <a:spcAft>
                          <a:spcPts val="0"/>
                        </a:spcAft>
                      </a:pPr>
                      <a:r>
                        <a:rPr lang="en-GB" sz="1100" kern="0" dirty="0">
                          <a:effectLst/>
                        </a:rPr>
                        <a:t>HR Department</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Low interest, low power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Medium</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In charge of payroll deductions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478726975"/>
                  </a:ext>
                </a:extLst>
              </a:tr>
              <a:tr h="776327">
                <a:tc>
                  <a:txBody>
                    <a:bodyPr/>
                    <a:lstStyle/>
                    <a:p>
                      <a:pPr marL="0" marR="0">
                        <a:lnSpc>
                          <a:spcPct val="107000"/>
                        </a:lnSpc>
                        <a:spcBef>
                          <a:spcPts val="0"/>
                        </a:spcBef>
                        <a:spcAft>
                          <a:spcPts val="0"/>
                        </a:spcAft>
                      </a:pPr>
                      <a:r>
                        <a:rPr lang="en-GB" sz="1100" kern="0">
                          <a:effectLst/>
                        </a:rPr>
                        <a:t>IT Department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dirty="0">
                          <a:effectLst/>
                        </a:rPr>
                        <a:t>High interest, high power</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High</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Responsible for system implementation and maintenance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3826356826"/>
                  </a:ext>
                </a:extLst>
              </a:tr>
              <a:tr h="522664">
                <a:tc>
                  <a:txBody>
                    <a:bodyPr/>
                    <a:lstStyle/>
                    <a:p>
                      <a:pPr marL="0" marR="0">
                        <a:lnSpc>
                          <a:spcPct val="107000"/>
                        </a:lnSpc>
                        <a:spcBef>
                          <a:spcPts val="0"/>
                        </a:spcBef>
                        <a:spcAft>
                          <a:spcPts val="0"/>
                        </a:spcAft>
                      </a:pPr>
                      <a:r>
                        <a:rPr lang="en-GB" sz="1100" kern="0">
                          <a:effectLst/>
                        </a:rPr>
                        <a:t>Senior Management</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High interest, high power </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High</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Decision-makers, funding approval</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991242948"/>
                  </a:ext>
                </a:extLst>
              </a:tr>
              <a:tr h="522664">
                <a:tc>
                  <a:txBody>
                    <a:bodyPr/>
                    <a:lstStyle/>
                    <a:p>
                      <a:pPr marL="0" marR="0">
                        <a:lnSpc>
                          <a:spcPct val="107000"/>
                        </a:lnSpc>
                        <a:spcBef>
                          <a:spcPts val="0"/>
                        </a:spcBef>
                        <a:spcAft>
                          <a:spcPts val="0"/>
                        </a:spcAft>
                      </a:pPr>
                      <a:r>
                        <a:rPr lang="en-GB" sz="1100" kern="0">
                          <a:effectLst/>
                        </a:rPr>
                        <a:t>Feedback Providers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Low interest, Low power</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a:effectLst/>
                        </a:rPr>
                        <a:t>Low</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tc>
                  <a:txBody>
                    <a:bodyPr/>
                    <a:lstStyle/>
                    <a:p>
                      <a:pPr marL="0" marR="0">
                        <a:lnSpc>
                          <a:spcPct val="107000"/>
                        </a:lnSpc>
                        <a:spcBef>
                          <a:spcPts val="0"/>
                        </a:spcBef>
                        <a:spcAft>
                          <a:spcPts val="0"/>
                        </a:spcAft>
                      </a:pPr>
                      <a:r>
                        <a:rPr lang="en-GB" sz="1100" kern="0" dirty="0">
                          <a:effectLst/>
                        </a:rPr>
                        <a:t>Provide insights for system improvement</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b"/>
                </a:tc>
                <a:extLst>
                  <a:ext uri="{0D108BD9-81ED-4DB2-BD59-A6C34878D82A}">
                    <a16:rowId xmlns:a16="http://schemas.microsoft.com/office/drawing/2014/main" val="1683661405"/>
                  </a:ext>
                </a:extLst>
              </a:tr>
            </a:tbl>
          </a:graphicData>
        </a:graphic>
      </p:graphicFrame>
      <p:sp>
        <p:nvSpPr>
          <p:cNvPr id="5" name="Arrow: Pentagon 4">
            <a:extLst>
              <a:ext uri="{FF2B5EF4-FFF2-40B4-BE49-F238E27FC236}">
                <a16:creationId xmlns:a16="http://schemas.microsoft.com/office/drawing/2014/main" id="{28DEC1D7-76A5-4D8A-9BEC-ACCD9265EBAB}"/>
              </a:ext>
            </a:extLst>
          </p:cNvPr>
          <p:cNvSpPr/>
          <p:nvPr/>
        </p:nvSpPr>
        <p:spPr>
          <a:xfrm flipH="1">
            <a:off x="1492577" y="0"/>
            <a:ext cx="10699423" cy="914400"/>
          </a:xfrm>
          <a:prstGeom prst="homePlate">
            <a:avLst/>
          </a:prstGeom>
          <a:solidFill>
            <a:srgbClr val="E9D9A4"/>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Pentagon 5">
            <a:extLst>
              <a:ext uri="{FF2B5EF4-FFF2-40B4-BE49-F238E27FC236}">
                <a16:creationId xmlns:a16="http://schemas.microsoft.com/office/drawing/2014/main" id="{DC6936E6-8BF4-4D17-B423-FBFB6AA1772D}"/>
              </a:ext>
            </a:extLst>
          </p:cNvPr>
          <p:cNvSpPr/>
          <p:nvPr/>
        </p:nvSpPr>
        <p:spPr>
          <a:xfrm>
            <a:off x="0" y="0"/>
            <a:ext cx="1723534" cy="914400"/>
          </a:xfrm>
          <a:prstGeom prst="homePlate">
            <a:avLst/>
          </a:prstGeom>
          <a:solidFill>
            <a:srgbClr val="F3A261"/>
          </a:solid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8E2209B-ABB1-4480-9C0A-F456A789BC01}"/>
              </a:ext>
            </a:extLst>
          </p:cNvPr>
          <p:cNvSpPr txBox="1"/>
          <p:nvPr/>
        </p:nvSpPr>
        <p:spPr>
          <a:xfrm>
            <a:off x="1723534" y="-57941"/>
            <a:ext cx="8975889" cy="1030282"/>
          </a:xfrm>
          <a:prstGeom prst="rect">
            <a:avLst/>
          </a:prstGeom>
          <a:noFill/>
        </p:spPr>
        <p:txBody>
          <a:bodyPr wrap="square">
            <a:spAutoFit/>
          </a:bodyPr>
          <a:lstStyle/>
          <a:p>
            <a:pPr marL="0" marR="0">
              <a:lnSpc>
                <a:spcPct val="107000"/>
              </a:lnSpc>
              <a:spcBef>
                <a:spcPts val="0"/>
              </a:spcBef>
              <a:spcAft>
                <a:spcPts val="800"/>
              </a:spcAft>
            </a:pPr>
            <a:r>
              <a:rPr lang="en-GB" sz="6000" b="1" kern="0" dirty="0">
                <a:solidFill>
                  <a:srgbClr val="374151"/>
                </a:solidFill>
                <a:effectLst/>
                <a:ea typeface="Times New Roman" panose="02020603050405020304" pitchFamily="18" charset="0"/>
                <a:cs typeface="Times New Roman" panose="02020603050405020304" pitchFamily="18" charset="0"/>
              </a:rPr>
              <a:t>Stakeholder matrixes</a:t>
            </a:r>
            <a:endParaRPr lang="en-US" sz="6000"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51719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F6357D7-5306-49E2-8052-EA71E05B42B4}"/>
              </a:ext>
            </a:extLst>
          </p:cNvPr>
          <p:cNvSpPr txBox="1"/>
          <p:nvPr/>
        </p:nvSpPr>
        <p:spPr>
          <a:xfrm>
            <a:off x="1442301" y="1657746"/>
            <a:ext cx="10228082" cy="4704814"/>
          </a:xfrm>
          <a:prstGeom prst="rect">
            <a:avLst/>
          </a:prstGeom>
          <a:noFill/>
        </p:spPr>
        <p:txBody>
          <a:bodyPr wrap="square">
            <a:spAutoFit/>
          </a:bodyPr>
          <a:lstStyle/>
          <a:p>
            <a:pPr marR="0" lvl="0" algn="just">
              <a:lnSpc>
                <a:spcPct val="107000"/>
              </a:lnSpc>
              <a:spcBef>
                <a:spcPts val="0"/>
              </a:spcBef>
              <a:spcAft>
                <a:spcPts val="0"/>
              </a:spcAft>
            </a:pPr>
            <a:r>
              <a:rPr lang="en-GB" sz="2500" b="1" u="sng" kern="100" dirty="0">
                <a:ea typeface="Calibri" panose="020F0502020204030204" pitchFamily="34" charset="0"/>
                <a:cs typeface="Times New Roman" panose="02020603050405020304" pitchFamily="18" charset="0"/>
              </a:rPr>
              <a:t>I</a:t>
            </a:r>
            <a:r>
              <a:rPr lang="en-GB" sz="2500" b="1" u="sng" kern="100" dirty="0">
                <a:effectLst/>
                <a:ea typeface="Calibri" panose="020F0502020204030204" pitchFamily="34" charset="0"/>
                <a:cs typeface="Times New Roman" panose="02020603050405020304" pitchFamily="18" charset="0"/>
              </a:rPr>
              <a:t>neffective Lunch Process</a:t>
            </a:r>
          </a:p>
          <a:p>
            <a:pPr marR="0" lvl="0" algn="just">
              <a:lnSpc>
                <a:spcPct val="107000"/>
              </a:lnSpc>
              <a:spcBef>
                <a:spcPts val="0"/>
              </a:spcBef>
              <a:spcAft>
                <a:spcPts val="0"/>
              </a:spcAft>
            </a:pPr>
            <a:r>
              <a:rPr lang="en-GB" sz="2500" kern="100" dirty="0">
                <a:effectLst/>
                <a:ea typeface="Calibri" panose="020F0502020204030204" pitchFamily="34" charset="0"/>
                <a:cs typeface="Times New Roman" panose="02020603050405020304" pitchFamily="18" charset="0"/>
              </a:rPr>
              <a:t>Workers must wait a long-time during lunch, which wastes time and reduces production.</a:t>
            </a:r>
            <a:endParaRPr lang="en-US" sz="2500" kern="100" dirty="0">
              <a:effectLst/>
              <a:ea typeface="Calibri" panose="020F0502020204030204" pitchFamily="34" charset="0"/>
              <a:cs typeface="Times New Roman" panose="02020603050405020304" pitchFamily="18" charset="0"/>
            </a:endParaRPr>
          </a:p>
          <a:p>
            <a:pPr marL="457200" algn="just">
              <a:lnSpc>
                <a:spcPct val="107000"/>
              </a:lnSpc>
            </a:pPr>
            <a:r>
              <a:rPr lang="en-GB" sz="2500" kern="100" dirty="0">
                <a:effectLst/>
                <a:ea typeface="Calibri" panose="020F0502020204030204" pitchFamily="34" charset="0"/>
                <a:cs typeface="Times New Roman" panose="02020603050405020304" pitchFamily="18" charset="0"/>
              </a:rPr>
              <a:t> </a:t>
            </a:r>
            <a:endParaRPr lang="en-US" sz="2500" kern="100" dirty="0">
              <a:effectLst/>
              <a:ea typeface="Calibri" panose="020F0502020204030204" pitchFamily="34" charset="0"/>
              <a:cs typeface="Times New Roman" panose="02020603050405020304" pitchFamily="18" charset="0"/>
            </a:endParaRPr>
          </a:p>
          <a:p>
            <a:pPr marR="0" lvl="0" algn="just">
              <a:lnSpc>
                <a:spcPct val="107000"/>
              </a:lnSpc>
              <a:spcBef>
                <a:spcPts val="0"/>
              </a:spcBef>
              <a:spcAft>
                <a:spcPts val="0"/>
              </a:spcAft>
            </a:pPr>
            <a:r>
              <a:rPr lang="en-GB" sz="2500" b="1" u="sng" kern="100" dirty="0">
                <a:effectLst/>
                <a:ea typeface="Calibri" panose="020F0502020204030204" pitchFamily="34" charset="0"/>
                <a:cs typeface="Times New Roman" panose="02020603050405020304" pitchFamily="18" charset="0"/>
              </a:rPr>
              <a:t>Limited Food Options</a:t>
            </a:r>
            <a:endParaRPr lang="en-GB" sz="2500" kern="100" dirty="0">
              <a:effectLst/>
              <a:ea typeface="Calibri" panose="020F0502020204030204" pitchFamily="34" charset="0"/>
              <a:cs typeface="Times New Roman" panose="02020603050405020304" pitchFamily="18" charset="0"/>
            </a:endParaRPr>
          </a:p>
          <a:p>
            <a:pPr marR="0" lvl="0" algn="just">
              <a:lnSpc>
                <a:spcPct val="107000"/>
              </a:lnSpc>
              <a:spcBef>
                <a:spcPts val="0"/>
              </a:spcBef>
              <a:spcAft>
                <a:spcPts val="0"/>
              </a:spcAft>
            </a:pPr>
            <a:r>
              <a:rPr lang="en-GB" sz="2500" kern="100" dirty="0">
                <a:effectLst/>
                <a:ea typeface="Calibri" panose="020F0502020204030204" pitchFamily="34" charset="0"/>
                <a:cs typeface="Times New Roman" panose="02020603050405020304" pitchFamily="18" charset="0"/>
              </a:rPr>
              <a:t>When there are shortages in the canteen, employees frequently cannot get their favourite foods.</a:t>
            </a:r>
            <a:endParaRPr lang="en-US" sz="2500" kern="100" dirty="0">
              <a:effectLst/>
              <a:ea typeface="Calibri" panose="020F0502020204030204" pitchFamily="34" charset="0"/>
              <a:cs typeface="Times New Roman" panose="02020603050405020304" pitchFamily="18" charset="0"/>
            </a:endParaRPr>
          </a:p>
          <a:p>
            <a:pPr marL="457200" marR="0" algn="just">
              <a:lnSpc>
                <a:spcPct val="107000"/>
              </a:lnSpc>
              <a:spcBef>
                <a:spcPts val="0"/>
              </a:spcBef>
              <a:spcAft>
                <a:spcPts val="0"/>
              </a:spcAft>
            </a:pPr>
            <a:r>
              <a:rPr lang="en-GB" sz="2500" kern="100" dirty="0">
                <a:effectLst/>
                <a:ea typeface="Calibri" panose="020F0502020204030204" pitchFamily="34" charset="0"/>
                <a:cs typeface="Times New Roman" panose="02020603050405020304" pitchFamily="18" charset="0"/>
              </a:rPr>
              <a:t> </a:t>
            </a:r>
            <a:endParaRPr lang="en-US" sz="2500" kern="100" dirty="0">
              <a:effectLst/>
              <a:ea typeface="Calibri" panose="020F0502020204030204" pitchFamily="34" charset="0"/>
              <a:cs typeface="Times New Roman" panose="02020603050405020304" pitchFamily="18" charset="0"/>
            </a:endParaRPr>
          </a:p>
          <a:p>
            <a:pPr marR="0" lvl="0" algn="just">
              <a:lnSpc>
                <a:spcPct val="107000"/>
              </a:lnSpc>
              <a:spcBef>
                <a:spcPts val="0"/>
              </a:spcBef>
              <a:spcAft>
                <a:spcPts val="800"/>
              </a:spcAft>
            </a:pPr>
            <a:r>
              <a:rPr lang="en-GB" sz="2500" b="1" u="sng" kern="100" dirty="0">
                <a:effectLst/>
                <a:ea typeface="Calibri" panose="020F0502020204030204" pitchFamily="34" charset="0"/>
                <a:cs typeface="Times New Roman" panose="02020603050405020304" pitchFamily="18" charset="0"/>
              </a:rPr>
              <a:t>Food Wastage</a:t>
            </a:r>
          </a:p>
          <a:p>
            <a:pPr marR="0" lvl="0" algn="just">
              <a:lnSpc>
                <a:spcPct val="107000"/>
              </a:lnSpc>
              <a:spcBef>
                <a:spcPts val="0"/>
              </a:spcBef>
              <a:spcAft>
                <a:spcPts val="800"/>
              </a:spcAft>
            </a:pPr>
            <a:r>
              <a:rPr lang="en-GB" sz="2500" kern="100" dirty="0">
                <a:effectLst/>
                <a:ea typeface="Calibri" panose="020F0502020204030204" pitchFamily="34" charset="0"/>
                <a:cs typeface="Times New Roman" panose="02020603050405020304" pitchFamily="18" charset="0"/>
              </a:rPr>
              <a:t>The canteen wastes money and resources by throwing away a large volume of unsold food.</a:t>
            </a:r>
            <a:endParaRPr lang="en-US" sz="2500" kern="100" dirty="0">
              <a:effectLst/>
              <a:ea typeface="Calibri" panose="020F0502020204030204" pitchFamily="34" charset="0"/>
              <a:cs typeface="Times New Roman" panose="02020603050405020304" pitchFamily="18" charset="0"/>
            </a:endParaRPr>
          </a:p>
        </p:txBody>
      </p:sp>
      <p:sp>
        <p:nvSpPr>
          <p:cNvPr id="6" name="Oval 5">
            <a:extLst>
              <a:ext uri="{FF2B5EF4-FFF2-40B4-BE49-F238E27FC236}">
                <a16:creationId xmlns:a16="http://schemas.microsoft.com/office/drawing/2014/main" id="{7A194B79-1309-408E-9661-EE53814AB7EE}"/>
              </a:ext>
            </a:extLst>
          </p:cNvPr>
          <p:cNvSpPr/>
          <p:nvPr/>
        </p:nvSpPr>
        <p:spPr>
          <a:xfrm>
            <a:off x="329938" y="1649690"/>
            <a:ext cx="933254" cy="933254"/>
          </a:xfrm>
          <a:prstGeom prst="ellipse">
            <a:avLst/>
          </a:prstGeom>
          <a:solidFill>
            <a:srgbClr val="EA3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01</a:t>
            </a:r>
          </a:p>
        </p:txBody>
      </p:sp>
      <p:sp>
        <p:nvSpPr>
          <p:cNvPr id="7" name="Oval 6">
            <a:extLst>
              <a:ext uri="{FF2B5EF4-FFF2-40B4-BE49-F238E27FC236}">
                <a16:creationId xmlns:a16="http://schemas.microsoft.com/office/drawing/2014/main" id="{2D6F3314-D3BE-4FF5-BB47-038367FA385D}"/>
              </a:ext>
            </a:extLst>
          </p:cNvPr>
          <p:cNvSpPr/>
          <p:nvPr/>
        </p:nvSpPr>
        <p:spPr>
          <a:xfrm>
            <a:off x="329938" y="3300330"/>
            <a:ext cx="933254" cy="933254"/>
          </a:xfrm>
          <a:prstGeom prst="ellipse">
            <a:avLst/>
          </a:prstGeom>
          <a:solidFill>
            <a:srgbClr val="EA3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02</a:t>
            </a:r>
          </a:p>
        </p:txBody>
      </p:sp>
      <p:sp>
        <p:nvSpPr>
          <p:cNvPr id="8" name="Oval 7">
            <a:extLst>
              <a:ext uri="{FF2B5EF4-FFF2-40B4-BE49-F238E27FC236}">
                <a16:creationId xmlns:a16="http://schemas.microsoft.com/office/drawing/2014/main" id="{DC79E19F-FCCD-4BB7-9124-7BE764B82CB1}"/>
              </a:ext>
            </a:extLst>
          </p:cNvPr>
          <p:cNvSpPr/>
          <p:nvPr/>
        </p:nvSpPr>
        <p:spPr>
          <a:xfrm>
            <a:off x="329938" y="4957053"/>
            <a:ext cx="933254" cy="933254"/>
          </a:xfrm>
          <a:prstGeom prst="ellipse">
            <a:avLst/>
          </a:prstGeom>
          <a:solidFill>
            <a:srgbClr val="EA3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03</a:t>
            </a:r>
          </a:p>
        </p:txBody>
      </p:sp>
      <p:sp>
        <p:nvSpPr>
          <p:cNvPr id="15" name="Oval 14">
            <a:extLst>
              <a:ext uri="{FF2B5EF4-FFF2-40B4-BE49-F238E27FC236}">
                <a16:creationId xmlns:a16="http://schemas.microsoft.com/office/drawing/2014/main" id="{4F1AC0FA-AA6B-4FF2-8B07-78B1630FDF89}"/>
              </a:ext>
            </a:extLst>
          </p:cNvPr>
          <p:cNvSpPr/>
          <p:nvPr/>
        </p:nvSpPr>
        <p:spPr>
          <a:xfrm>
            <a:off x="245096" y="1564849"/>
            <a:ext cx="1102937" cy="1102936"/>
          </a:xfrm>
          <a:prstGeom prst="ellipse">
            <a:avLst/>
          </a:prstGeom>
          <a:noFill/>
          <a:ln>
            <a:solidFill>
              <a:srgbClr val="EA38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75160A2-DAAF-48C1-B020-FE7B8723A375}"/>
              </a:ext>
            </a:extLst>
          </p:cNvPr>
          <p:cNvSpPr/>
          <p:nvPr/>
        </p:nvSpPr>
        <p:spPr>
          <a:xfrm>
            <a:off x="245096" y="3215489"/>
            <a:ext cx="1102937" cy="1102936"/>
          </a:xfrm>
          <a:prstGeom prst="ellipse">
            <a:avLst/>
          </a:prstGeom>
          <a:noFill/>
          <a:ln>
            <a:solidFill>
              <a:srgbClr val="EA38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A68D20E-D86E-4150-AC12-5FDBD5F03234}"/>
              </a:ext>
            </a:extLst>
          </p:cNvPr>
          <p:cNvSpPr/>
          <p:nvPr/>
        </p:nvSpPr>
        <p:spPr>
          <a:xfrm>
            <a:off x="245096" y="4866129"/>
            <a:ext cx="1102937" cy="1102936"/>
          </a:xfrm>
          <a:prstGeom prst="ellipse">
            <a:avLst/>
          </a:prstGeom>
          <a:noFill/>
          <a:ln>
            <a:solidFill>
              <a:srgbClr val="EA384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AAD4B79-ADC6-4406-B580-9D023EDCBEDB}"/>
              </a:ext>
            </a:extLst>
          </p:cNvPr>
          <p:cNvSpPr/>
          <p:nvPr/>
        </p:nvSpPr>
        <p:spPr>
          <a:xfrm>
            <a:off x="0" y="-7005"/>
            <a:ext cx="10510887" cy="1364465"/>
          </a:xfrm>
          <a:prstGeom prst="rect">
            <a:avLst/>
          </a:prstGeom>
          <a:solidFill>
            <a:srgbClr val="FDC5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Triangle 23">
            <a:extLst>
              <a:ext uri="{FF2B5EF4-FFF2-40B4-BE49-F238E27FC236}">
                <a16:creationId xmlns:a16="http://schemas.microsoft.com/office/drawing/2014/main" id="{4DF0E951-C298-41B8-9DCE-E4740D4CD180}"/>
              </a:ext>
            </a:extLst>
          </p:cNvPr>
          <p:cNvSpPr/>
          <p:nvPr/>
        </p:nvSpPr>
        <p:spPr>
          <a:xfrm>
            <a:off x="9783450" y="28360"/>
            <a:ext cx="1662260" cy="1329100"/>
          </a:xfrm>
          <a:prstGeom prst="rtTriangle">
            <a:avLst/>
          </a:prstGeom>
          <a:solidFill>
            <a:srgbClr val="FDC5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A81A26BD-3E3A-4995-8777-CC9CFA8763EA}"/>
              </a:ext>
            </a:extLst>
          </p:cNvPr>
          <p:cNvSpPr txBox="1"/>
          <p:nvPr/>
        </p:nvSpPr>
        <p:spPr>
          <a:xfrm>
            <a:off x="-103693" y="78426"/>
            <a:ext cx="10991651" cy="938719"/>
          </a:xfrm>
          <a:prstGeom prst="rect">
            <a:avLst/>
          </a:prstGeom>
          <a:noFill/>
        </p:spPr>
        <p:txBody>
          <a:bodyPr wrap="square">
            <a:spAutoFit/>
          </a:bodyPr>
          <a:lstStyle/>
          <a:p>
            <a:r>
              <a:rPr lang="en-GB" sz="5500" b="1" dirty="0">
                <a:latin typeface="Calibri" panose="020F0502020204030204" pitchFamily="34" charset="0"/>
                <a:cs typeface="Times New Roman" panose="02020603050405020304" pitchFamily="18" charset="0"/>
              </a:rPr>
              <a:t>Problems with the current process</a:t>
            </a:r>
            <a:endParaRPr lang="en-US" sz="5500" dirty="0"/>
          </a:p>
        </p:txBody>
      </p:sp>
      <p:sp>
        <p:nvSpPr>
          <p:cNvPr id="29" name="Rectangle 28">
            <a:extLst>
              <a:ext uri="{FF2B5EF4-FFF2-40B4-BE49-F238E27FC236}">
                <a16:creationId xmlns:a16="http://schemas.microsoft.com/office/drawing/2014/main" id="{23480B61-DD21-41A5-ABFA-5E358A0FC0DA}"/>
              </a:ext>
            </a:extLst>
          </p:cNvPr>
          <p:cNvSpPr/>
          <p:nvPr/>
        </p:nvSpPr>
        <p:spPr>
          <a:xfrm>
            <a:off x="10770121" y="0"/>
            <a:ext cx="424206" cy="1272619"/>
          </a:xfrm>
          <a:prstGeom prst="rect">
            <a:avLst/>
          </a:prstGeom>
          <a:solidFill>
            <a:srgbClr val="FDC5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0E00EAF-AB60-48DF-A418-462729FA3322}"/>
              </a:ext>
            </a:extLst>
          </p:cNvPr>
          <p:cNvSpPr/>
          <p:nvPr/>
        </p:nvSpPr>
        <p:spPr>
          <a:xfrm rot="10800000">
            <a:off x="11419002" y="-1"/>
            <a:ext cx="772998" cy="1357460"/>
          </a:xfrm>
          <a:prstGeom prst="rect">
            <a:avLst/>
          </a:prstGeom>
          <a:solidFill>
            <a:srgbClr val="FDC5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8702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E847294-15C9-431D-96A3-F8736FF6DABA}"/>
              </a:ext>
            </a:extLst>
          </p:cNvPr>
          <p:cNvSpPr/>
          <p:nvPr/>
        </p:nvSpPr>
        <p:spPr>
          <a:xfrm>
            <a:off x="708582" y="1338605"/>
            <a:ext cx="10415047" cy="1319754"/>
          </a:xfrm>
          <a:prstGeom prst="rect">
            <a:avLst/>
          </a:prstGeom>
          <a:solidFill>
            <a:srgbClr val="DEB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88B0B4D0-BED9-42B6-9246-70D488CBA00E}"/>
              </a:ext>
            </a:extLst>
          </p:cNvPr>
          <p:cNvSpPr/>
          <p:nvPr/>
        </p:nvSpPr>
        <p:spPr>
          <a:xfrm>
            <a:off x="518475" y="1065227"/>
            <a:ext cx="9954705" cy="546755"/>
          </a:xfrm>
          <a:prstGeom prst="rect">
            <a:avLst/>
          </a:prstGeom>
          <a:solidFill>
            <a:schemeClr val="bg1"/>
          </a:solidFill>
          <a:ln>
            <a:solidFill>
              <a:srgbClr val="FAD4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Oval 8">
            <a:extLst>
              <a:ext uri="{FF2B5EF4-FFF2-40B4-BE49-F238E27FC236}">
                <a16:creationId xmlns:a16="http://schemas.microsoft.com/office/drawing/2014/main" id="{B6207A92-5EAD-44F5-83FF-4FA9AB8675FF}"/>
              </a:ext>
            </a:extLst>
          </p:cNvPr>
          <p:cNvSpPr/>
          <p:nvPr/>
        </p:nvSpPr>
        <p:spPr>
          <a:xfrm>
            <a:off x="201106" y="1183062"/>
            <a:ext cx="904973" cy="857839"/>
          </a:xfrm>
          <a:prstGeom prst="ellipse">
            <a:avLst/>
          </a:prstGeom>
          <a:solidFill>
            <a:schemeClr val="bg1"/>
          </a:solidFill>
          <a:ln>
            <a:solidFill>
              <a:srgbClr val="FAD4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a:t>
            </a:r>
          </a:p>
        </p:txBody>
      </p:sp>
      <p:sp>
        <p:nvSpPr>
          <p:cNvPr id="10" name="Rectangle 9">
            <a:extLst>
              <a:ext uri="{FF2B5EF4-FFF2-40B4-BE49-F238E27FC236}">
                <a16:creationId xmlns:a16="http://schemas.microsoft.com/office/drawing/2014/main" id="{E8269051-57C1-479E-9A1F-89E8701836C7}"/>
              </a:ext>
            </a:extLst>
          </p:cNvPr>
          <p:cNvSpPr/>
          <p:nvPr/>
        </p:nvSpPr>
        <p:spPr>
          <a:xfrm>
            <a:off x="708582" y="3358298"/>
            <a:ext cx="10415047" cy="1319754"/>
          </a:xfrm>
          <a:prstGeom prst="rect">
            <a:avLst/>
          </a:prstGeom>
          <a:solidFill>
            <a:srgbClr val="DEB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55401013-D79F-43C3-A2AC-F7218F677AE5}"/>
              </a:ext>
            </a:extLst>
          </p:cNvPr>
          <p:cNvSpPr/>
          <p:nvPr/>
        </p:nvSpPr>
        <p:spPr>
          <a:xfrm>
            <a:off x="518475" y="3084920"/>
            <a:ext cx="9954705" cy="546755"/>
          </a:xfrm>
          <a:prstGeom prst="rect">
            <a:avLst/>
          </a:prstGeom>
          <a:solidFill>
            <a:schemeClr val="bg1"/>
          </a:solidFill>
          <a:ln>
            <a:solidFill>
              <a:srgbClr val="FAD4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Oval 11">
            <a:extLst>
              <a:ext uri="{FF2B5EF4-FFF2-40B4-BE49-F238E27FC236}">
                <a16:creationId xmlns:a16="http://schemas.microsoft.com/office/drawing/2014/main" id="{F16D2B31-2C68-4A87-B0D2-D5AC0855DBDC}"/>
              </a:ext>
            </a:extLst>
          </p:cNvPr>
          <p:cNvSpPr/>
          <p:nvPr/>
        </p:nvSpPr>
        <p:spPr>
          <a:xfrm>
            <a:off x="201106" y="3202756"/>
            <a:ext cx="904973" cy="857839"/>
          </a:xfrm>
          <a:prstGeom prst="ellipse">
            <a:avLst/>
          </a:prstGeom>
          <a:solidFill>
            <a:schemeClr val="bg1"/>
          </a:solidFill>
          <a:ln>
            <a:solidFill>
              <a:srgbClr val="FAD4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02</a:t>
            </a:r>
          </a:p>
        </p:txBody>
      </p:sp>
      <p:sp>
        <p:nvSpPr>
          <p:cNvPr id="13" name="Rectangle 12">
            <a:extLst>
              <a:ext uri="{FF2B5EF4-FFF2-40B4-BE49-F238E27FC236}">
                <a16:creationId xmlns:a16="http://schemas.microsoft.com/office/drawing/2014/main" id="{D54341D5-2406-4028-A4D6-9EE2D299878D}"/>
              </a:ext>
            </a:extLst>
          </p:cNvPr>
          <p:cNvSpPr/>
          <p:nvPr/>
        </p:nvSpPr>
        <p:spPr>
          <a:xfrm>
            <a:off x="708582" y="5246015"/>
            <a:ext cx="10415047" cy="1319754"/>
          </a:xfrm>
          <a:prstGeom prst="rect">
            <a:avLst/>
          </a:prstGeom>
          <a:solidFill>
            <a:srgbClr val="DEB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ectangle 13">
            <a:extLst>
              <a:ext uri="{FF2B5EF4-FFF2-40B4-BE49-F238E27FC236}">
                <a16:creationId xmlns:a16="http://schemas.microsoft.com/office/drawing/2014/main" id="{C516AFB9-1E94-4CB1-87CA-8189DC95DFF2}"/>
              </a:ext>
            </a:extLst>
          </p:cNvPr>
          <p:cNvSpPr/>
          <p:nvPr/>
        </p:nvSpPr>
        <p:spPr>
          <a:xfrm>
            <a:off x="518475" y="4972638"/>
            <a:ext cx="9954705" cy="546755"/>
          </a:xfrm>
          <a:prstGeom prst="rect">
            <a:avLst/>
          </a:prstGeom>
          <a:solidFill>
            <a:schemeClr val="bg1"/>
          </a:solidFill>
          <a:ln>
            <a:solidFill>
              <a:srgbClr val="FAD4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Oval 14">
            <a:extLst>
              <a:ext uri="{FF2B5EF4-FFF2-40B4-BE49-F238E27FC236}">
                <a16:creationId xmlns:a16="http://schemas.microsoft.com/office/drawing/2014/main" id="{D7818325-47E7-4D8E-9688-B13CC1371AA7}"/>
              </a:ext>
            </a:extLst>
          </p:cNvPr>
          <p:cNvSpPr/>
          <p:nvPr/>
        </p:nvSpPr>
        <p:spPr>
          <a:xfrm>
            <a:off x="201106" y="5090473"/>
            <a:ext cx="904973" cy="857839"/>
          </a:xfrm>
          <a:prstGeom prst="ellipse">
            <a:avLst/>
          </a:prstGeom>
          <a:solidFill>
            <a:schemeClr val="bg1"/>
          </a:solidFill>
          <a:ln>
            <a:solidFill>
              <a:srgbClr val="FAD4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03</a:t>
            </a:r>
          </a:p>
        </p:txBody>
      </p:sp>
      <p:sp>
        <p:nvSpPr>
          <p:cNvPr id="17" name="TextBox 16">
            <a:extLst>
              <a:ext uri="{FF2B5EF4-FFF2-40B4-BE49-F238E27FC236}">
                <a16:creationId xmlns:a16="http://schemas.microsoft.com/office/drawing/2014/main" id="{8D6A278F-EE8F-4789-B5E5-923E48E8913F}"/>
              </a:ext>
            </a:extLst>
          </p:cNvPr>
          <p:cNvSpPr txBox="1"/>
          <p:nvPr/>
        </p:nvSpPr>
        <p:spPr>
          <a:xfrm>
            <a:off x="1055016" y="1847575"/>
            <a:ext cx="9722178" cy="375552"/>
          </a:xfrm>
          <a:prstGeom prst="rect">
            <a:avLst/>
          </a:prstGeom>
          <a:noFill/>
        </p:spPr>
        <p:txBody>
          <a:bodyPr wrap="square">
            <a:spAutoFit/>
          </a:bodyPr>
          <a:lstStyle/>
          <a:p>
            <a:pPr marL="228600" marR="0">
              <a:lnSpc>
                <a:spcPct val="107000"/>
              </a:lnSpc>
              <a:spcBef>
                <a:spcPts val="0"/>
              </a:spcBef>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Minimize the time employees spend in queues and waiting for tables during lunch hours.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TextBox 18">
            <a:extLst>
              <a:ext uri="{FF2B5EF4-FFF2-40B4-BE49-F238E27FC236}">
                <a16:creationId xmlns:a16="http://schemas.microsoft.com/office/drawing/2014/main" id="{E7322D6E-F0F3-4388-BB61-7F9F26E2AC8C}"/>
              </a:ext>
            </a:extLst>
          </p:cNvPr>
          <p:cNvSpPr txBox="1"/>
          <p:nvPr/>
        </p:nvSpPr>
        <p:spPr>
          <a:xfrm>
            <a:off x="1068371" y="1123435"/>
            <a:ext cx="6094428" cy="470000"/>
          </a:xfrm>
          <a:prstGeom prst="rect">
            <a:avLst/>
          </a:prstGeom>
          <a:noFill/>
        </p:spPr>
        <p:txBody>
          <a:bodyPr wrap="square">
            <a:spAutoFit/>
          </a:bodyPr>
          <a:lstStyle/>
          <a:p>
            <a:pPr marR="0" lvl="0">
              <a:lnSpc>
                <a:spcPct val="107000"/>
              </a:lnSpc>
              <a:spcBef>
                <a:spcPts val="0"/>
              </a:spcBef>
              <a:spcAft>
                <a:spcPts val="800"/>
              </a:spcAft>
            </a:pPr>
            <a:r>
              <a:rPr lang="en-GB" sz="2400" b="1" kern="100" dirty="0">
                <a:effectLst/>
                <a:latin typeface="Calibri" panose="020F0502020204030204" pitchFamily="34" charset="0"/>
                <a:ea typeface="Calibri" panose="020F0502020204030204" pitchFamily="34" charset="0"/>
                <a:cs typeface="Times New Roman" panose="02020603050405020304" pitchFamily="18" charset="0"/>
              </a:rPr>
              <a:t>Reduce Wait Times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0C10C565-EA70-4388-94AC-75125B191969}"/>
              </a:ext>
            </a:extLst>
          </p:cNvPr>
          <p:cNvSpPr txBox="1"/>
          <p:nvPr/>
        </p:nvSpPr>
        <p:spPr>
          <a:xfrm>
            <a:off x="1208987" y="3765538"/>
            <a:ext cx="9848653" cy="375552"/>
          </a:xfrm>
          <a:prstGeom prst="rect">
            <a:avLst/>
          </a:prstGeom>
          <a:noFill/>
        </p:spPr>
        <p:txBody>
          <a:bodyPr wrap="square">
            <a:spAutoFit/>
          </a:bodyPr>
          <a:lstStyle/>
          <a:p>
            <a:pPr marR="0" lvl="0">
              <a:lnSpc>
                <a:spcPct val="107000"/>
              </a:lnSpc>
              <a:spcBef>
                <a:spcPts val="0"/>
              </a:spcBef>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Ensure a broader selection of dishes to cater to employees' preferences and reduce shortages.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TextBox 22">
            <a:extLst>
              <a:ext uri="{FF2B5EF4-FFF2-40B4-BE49-F238E27FC236}">
                <a16:creationId xmlns:a16="http://schemas.microsoft.com/office/drawing/2014/main" id="{501C2736-191F-43B8-BDA7-3F43CC590EEB}"/>
              </a:ext>
            </a:extLst>
          </p:cNvPr>
          <p:cNvSpPr txBox="1"/>
          <p:nvPr/>
        </p:nvSpPr>
        <p:spPr>
          <a:xfrm>
            <a:off x="1068371" y="3202756"/>
            <a:ext cx="6094428" cy="470000"/>
          </a:xfrm>
          <a:prstGeom prst="rect">
            <a:avLst/>
          </a:prstGeom>
          <a:noFill/>
        </p:spPr>
        <p:txBody>
          <a:bodyPr wrap="square">
            <a:spAutoFit/>
          </a:bodyPr>
          <a:lstStyle/>
          <a:p>
            <a:pPr marR="0" lvl="0">
              <a:lnSpc>
                <a:spcPct val="107000"/>
              </a:lnSpc>
              <a:spcBef>
                <a:spcPts val="0"/>
              </a:spcBef>
              <a:spcAft>
                <a:spcPts val="800"/>
              </a:spcAft>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2400" b="1" kern="100" dirty="0">
                <a:effectLst/>
                <a:latin typeface="Calibri" panose="020F0502020204030204" pitchFamily="34" charset="0"/>
                <a:ea typeface="Calibri" panose="020F0502020204030204" pitchFamily="34" charset="0"/>
                <a:cs typeface="Times New Roman" panose="02020603050405020304" pitchFamily="18" charset="0"/>
              </a:rPr>
              <a:t>Increase Food Variety</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TextBox 24">
            <a:extLst>
              <a:ext uri="{FF2B5EF4-FFF2-40B4-BE49-F238E27FC236}">
                <a16:creationId xmlns:a16="http://schemas.microsoft.com/office/drawing/2014/main" id="{0958FB4A-81BC-46A9-87DF-1B5CEAD31232}"/>
              </a:ext>
            </a:extLst>
          </p:cNvPr>
          <p:cNvSpPr txBox="1"/>
          <p:nvPr/>
        </p:nvSpPr>
        <p:spPr>
          <a:xfrm>
            <a:off x="1208987" y="5813979"/>
            <a:ext cx="10671928" cy="375552"/>
          </a:xfrm>
          <a:prstGeom prst="rect">
            <a:avLst/>
          </a:prstGeom>
          <a:noFill/>
        </p:spPr>
        <p:txBody>
          <a:bodyPr wrap="square">
            <a:spAutoFit/>
          </a:bodyPr>
          <a:lstStyle/>
          <a:p>
            <a:pPr marL="0" marR="0">
              <a:lnSpc>
                <a:spcPct val="107000"/>
              </a:lnSpc>
              <a:spcBef>
                <a:spcPts val="0"/>
              </a:spcBef>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Reduce needless food disposal by putting in place an effective ordering system that matches demand.</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TextBox 26">
            <a:extLst>
              <a:ext uri="{FF2B5EF4-FFF2-40B4-BE49-F238E27FC236}">
                <a16:creationId xmlns:a16="http://schemas.microsoft.com/office/drawing/2014/main" id="{4EAF40FF-77CF-4E4D-87BB-3A708ED027A6}"/>
              </a:ext>
            </a:extLst>
          </p:cNvPr>
          <p:cNvSpPr txBox="1"/>
          <p:nvPr/>
        </p:nvSpPr>
        <p:spPr>
          <a:xfrm>
            <a:off x="1106079" y="5005612"/>
            <a:ext cx="6094428" cy="470000"/>
          </a:xfrm>
          <a:prstGeom prst="rect">
            <a:avLst/>
          </a:prstGeom>
          <a:noFill/>
        </p:spPr>
        <p:txBody>
          <a:bodyPr wrap="square">
            <a:spAutoFit/>
          </a:bodyPr>
          <a:lstStyle/>
          <a:p>
            <a:pPr marR="0" lvl="0">
              <a:lnSpc>
                <a:spcPct val="107000"/>
              </a:lnSpc>
              <a:spcBef>
                <a:spcPts val="0"/>
              </a:spcBef>
              <a:spcAft>
                <a:spcPts val="800"/>
              </a:spcAft>
            </a:pPr>
            <a:r>
              <a:rPr lang="en-GB" sz="2400" b="1" kern="100" dirty="0">
                <a:effectLst/>
                <a:latin typeface="Calibri" panose="020F0502020204030204" pitchFamily="34" charset="0"/>
                <a:ea typeface="Calibri" panose="020F0502020204030204" pitchFamily="34" charset="0"/>
                <a:cs typeface="Times New Roman" panose="02020603050405020304" pitchFamily="18" charset="0"/>
              </a:rPr>
              <a:t>Reduce Food Wastage</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TextBox 28">
            <a:extLst>
              <a:ext uri="{FF2B5EF4-FFF2-40B4-BE49-F238E27FC236}">
                <a16:creationId xmlns:a16="http://schemas.microsoft.com/office/drawing/2014/main" id="{3992C8F8-278C-4365-BF9B-DD04FA93C861}"/>
              </a:ext>
            </a:extLst>
          </p:cNvPr>
          <p:cNvSpPr txBox="1"/>
          <p:nvPr/>
        </p:nvSpPr>
        <p:spPr>
          <a:xfrm>
            <a:off x="-16890" y="-41634"/>
            <a:ext cx="11865990" cy="800412"/>
          </a:xfrm>
          <a:prstGeom prst="rect">
            <a:avLst/>
          </a:prstGeom>
          <a:noFill/>
        </p:spPr>
        <p:txBody>
          <a:bodyPr wrap="square">
            <a:spAutoFit/>
          </a:bodyPr>
          <a:lstStyle/>
          <a:p>
            <a:pPr marR="0" lvl="0">
              <a:lnSpc>
                <a:spcPct val="107000"/>
              </a:lnSpc>
              <a:spcBef>
                <a:spcPts val="0"/>
              </a:spcBef>
              <a:spcAft>
                <a:spcPts val="800"/>
              </a:spcAft>
            </a:pPr>
            <a:r>
              <a:rPr lang="en-GB" sz="4500" b="1" kern="100" dirty="0">
                <a:latin typeface="Calibri" panose="020F0502020204030204" pitchFamily="34" charset="0"/>
                <a:ea typeface="Calibri" panose="020F0502020204030204" pitchFamily="34" charset="0"/>
                <a:cs typeface="Times New Roman" panose="02020603050405020304" pitchFamily="18" charset="0"/>
              </a:rPr>
              <a:t>O</a:t>
            </a:r>
            <a:r>
              <a:rPr lang="en-GB" sz="4500" b="1" kern="100" dirty="0">
                <a:effectLst/>
                <a:latin typeface="Calibri" panose="020F0502020204030204" pitchFamily="34" charset="0"/>
                <a:ea typeface="Calibri" panose="020F0502020204030204" pitchFamily="34" charset="0"/>
                <a:cs typeface="Times New Roman" panose="02020603050405020304" pitchFamily="18" charset="0"/>
              </a:rPr>
              <a:t>bjectives of the new canteen ordering system</a:t>
            </a:r>
            <a:endParaRPr lang="en-US" sz="45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4" name="TextBox 83">
            <a:extLst>
              <a:ext uri="{FF2B5EF4-FFF2-40B4-BE49-F238E27FC236}">
                <a16:creationId xmlns:a16="http://schemas.microsoft.com/office/drawing/2014/main" id="{8AEDE949-8FEF-4124-9915-338EF0B44268}"/>
              </a:ext>
            </a:extLst>
          </p:cNvPr>
          <p:cNvSpPr txBox="1"/>
          <p:nvPr/>
        </p:nvSpPr>
        <p:spPr>
          <a:xfrm>
            <a:off x="1106079" y="5011015"/>
            <a:ext cx="6094428" cy="470000"/>
          </a:xfrm>
          <a:prstGeom prst="rect">
            <a:avLst/>
          </a:prstGeom>
          <a:noFill/>
        </p:spPr>
        <p:txBody>
          <a:bodyPr wrap="square">
            <a:spAutoFit/>
          </a:bodyPr>
          <a:lstStyle/>
          <a:p>
            <a:pPr marR="0" lvl="0">
              <a:lnSpc>
                <a:spcPct val="107000"/>
              </a:lnSpc>
              <a:spcBef>
                <a:spcPts val="0"/>
              </a:spcBef>
              <a:spcAft>
                <a:spcPts val="800"/>
              </a:spcAft>
            </a:pPr>
            <a:r>
              <a:rPr lang="en-GB" sz="2400" b="1" kern="100" dirty="0">
                <a:effectLst/>
                <a:latin typeface="Calibri" panose="020F0502020204030204" pitchFamily="34" charset="0"/>
                <a:ea typeface="Calibri" panose="020F0502020204030204" pitchFamily="34" charset="0"/>
                <a:cs typeface="Times New Roman" panose="02020603050405020304" pitchFamily="18" charset="0"/>
              </a:rPr>
              <a:t>Reduce Food Wastage</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268438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E847294-15C9-431D-96A3-F8736FF6DABA}"/>
              </a:ext>
            </a:extLst>
          </p:cNvPr>
          <p:cNvSpPr/>
          <p:nvPr/>
        </p:nvSpPr>
        <p:spPr>
          <a:xfrm>
            <a:off x="708582" y="1338605"/>
            <a:ext cx="10415047" cy="1319754"/>
          </a:xfrm>
          <a:prstGeom prst="rect">
            <a:avLst/>
          </a:prstGeom>
          <a:solidFill>
            <a:srgbClr val="DEB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88B0B4D0-BED9-42B6-9246-70D488CBA00E}"/>
              </a:ext>
            </a:extLst>
          </p:cNvPr>
          <p:cNvSpPr/>
          <p:nvPr/>
        </p:nvSpPr>
        <p:spPr>
          <a:xfrm>
            <a:off x="518475" y="1065228"/>
            <a:ext cx="9954705" cy="546755"/>
          </a:xfrm>
          <a:prstGeom prst="rect">
            <a:avLst/>
          </a:prstGeom>
          <a:solidFill>
            <a:schemeClr val="bg1"/>
          </a:solidFill>
          <a:ln>
            <a:solidFill>
              <a:srgbClr val="FAD4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Oval 8">
            <a:extLst>
              <a:ext uri="{FF2B5EF4-FFF2-40B4-BE49-F238E27FC236}">
                <a16:creationId xmlns:a16="http://schemas.microsoft.com/office/drawing/2014/main" id="{B6207A92-5EAD-44F5-83FF-4FA9AB8675FF}"/>
              </a:ext>
            </a:extLst>
          </p:cNvPr>
          <p:cNvSpPr/>
          <p:nvPr/>
        </p:nvSpPr>
        <p:spPr>
          <a:xfrm>
            <a:off x="201106" y="1183063"/>
            <a:ext cx="904973" cy="857839"/>
          </a:xfrm>
          <a:prstGeom prst="ellipse">
            <a:avLst/>
          </a:prstGeom>
          <a:solidFill>
            <a:schemeClr val="bg1"/>
          </a:solidFill>
          <a:ln>
            <a:solidFill>
              <a:srgbClr val="FAD4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04</a:t>
            </a:r>
          </a:p>
        </p:txBody>
      </p:sp>
      <p:sp>
        <p:nvSpPr>
          <p:cNvPr id="10" name="Rectangle 9">
            <a:extLst>
              <a:ext uri="{FF2B5EF4-FFF2-40B4-BE49-F238E27FC236}">
                <a16:creationId xmlns:a16="http://schemas.microsoft.com/office/drawing/2014/main" id="{E8269051-57C1-479E-9A1F-89E8701836C7}"/>
              </a:ext>
            </a:extLst>
          </p:cNvPr>
          <p:cNvSpPr/>
          <p:nvPr/>
        </p:nvSpPr>
        <p:spPr>
          <a:xfrm>
            <a:off x="708582" y="3358298"/>
            <a:ext cx="10415047" cy="1319754"/>
          </a:xfrm>
          <a:prstGeom prst="rect">
            <a:avLst/>
          </a:prstGeom>
          <a:solidFill>
            <a:srgbClr val="DEB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 name="Rectangle 10">
            <a:extLst>
              <a:ext uri="{FF2B5EF4-FFF2-40B4-BE49-F238E27FC236}">
                <a16:creationId xmlns:a16="http://schemas.microsoft.com/office/drawing/2014/main" id="{55401013-D79F-43C3-A2AC-F7218F677AE5}"/>
              </a:ext>
            </a:extLst>
          </p:cNvPr>
          <p:cNvSpPr/>
          <p:nvPr/>
        </p:nvSpPr>
        <p:spPr>
          <a:xfrm>
            <a:off x="518475" y="3084921"/>
            <a:ext cx="9954705" cy="546755"/>
          </a:xfrm>
          <a:prstGeom prst="rect">
            <a:avLst/>
          </a:prstGeom>
          <a:solidFill>
            <a:schemeClr val="bg1"/>
          </a:solidFill>
          <a:ln>
            <a:solidFill>
              <a:srgbClr val="FAD4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Oval 11">
            <a:extLst>
              <a:ext uri="{FF2B5EF4-FFF2-40B4-BE49-F238E27FC236}">
                <a16:creationId xmlns:a16="http://schemas.microsoft.com/office/drawing/2014/main" id="{F16D2B31-2C68-4A87-B0D2-D5AC0855DBDC}"/>
              </a:ext>
            </a:extLst>
          </p:cNvPr>
          <p:cNvSpPr/>
          <p:nvPr/>
        </p:nvSpPr>
        <p:spPr>
          <a:xfrm>
            <a:off x="201106" y="3202756"/>
            <a:ext cx="904973" cy="857839"/>
          </a:xfrm>
          <a:prstGeom prst="ellipse">
            <a:avLst/>
          </a:prstGeom>
          <a:solidFill>
            <a:schemeClr val="bg1"/>
          </a:solidFill>
          <a:ln>
            <a:solidFill>
              <a:srgbClr val="FAD4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05</a:t>
            </a:r>
          </a:p>
        </p:txBody>
      </p:sp>
      <p:sp>
        <p:nvSpPr>
          <p:cNvPr id="13" name="Rectangle 12">
            <a:extLst>
              <a:ext uri="{FF2B5EF4-FFF2-40B4-BE49-F238E27FC236}">
                <a16:creationId xmlns:a16="http://schemas.microsoft.com/office/drawing/2014/main" id="{D54341D5-2406-4028-A4D6-9EE2D299878D}"/>
              </a:ext>
            </a:extLst>
          </p:cNvPr>
          <p:cNvSpPr/>
          <p:nvPr/>
        </p:nvSpPr>
        <p:spPr>
          <a:xfrm>
            <a:off x="708582" y="5246015"/>
            <a:ext cx="10415047" cy="1319754"/>
          </a:xfrm>
          <a:prstGeom prst="rect">
            <a:avLst/>
          </a:prstGeom>
          <a:solidFill>
            <a:srgbClr val="DEB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ectangle 13">
            <a:extLst>
              <a:ext uri="{FF2B5EF4-FFF2-40B4-BE49-F238E27FC236}">
                <a16:creationId xmlns:a16="http://schemas.microsoft.com/office/drawing/2014/main" id="{C516AFB9-1E94-4CB1-87CA-8189DC95DFF2}"/>
              </a:ext>
            </a:extLst>
          </p:cNvPr>
          <p:cNvSpPr/>
          <p:nvPr/>
        </p:nvSpPr>
        <p:spPr>
          <a:xfrm>
            <a:off x="518475" y="4972637"/>
            <a:ext cx="9954705" cy="546755"/>
          </a:xfrm>
          <a:prstGeom prst="rect">
            <a:avLst/>
          </a:prstGeom>
          <a:solidFill>
            <a:schemeClr val="bg1"/>
          </a:solidFill>
          <a:ln>
            <a:solidFill>
              <a:srgbClr val="FAD4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Oval 14">
            <a:extLst>
              <a:ext uri="{FF2B5EF4-FFF2-40B4-BE49-F238E27FC236}">
                <a16:creationId xmlns:a16="http://schemas.microsoft.com/office/drawing/2014/main" id="{D7818325-47E7-4D8E-9688-B13CC1371AA7}"/>
              </a:ext>
            </a:extLst>
          </p:cNvPr>
          <p:cNvSpPr/>
          <p:nvPr/>
        </p:nvSpPr>
        <p:spPr>
          <a:xfrm>
            <a:off x="201106" y="5090473"/>
            <a:ext cx="904973" cy="857839"/>
          </a:xfrm>
          <a:prstGeom prst="ellipse">
            <a:avLst/>
          </a:prstGeom>
          <a:solidFill>
            <a:schemeClr val="bg1"/>
          </a:solidFill>
          <a:ln>
            <a:solidFill>
              <a:srgbClr val="FAD4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06</a:t>
            </a:r>
          </a:p>
        </p:txBody>
      </p:sp>
      <p:sp>
        <p:nvSpPr>
          <p:cNvPr id="16" name="TextBox 15">
            <a:extLst>
              <a:ext uri="{FF2B5EF4-FFF2-40B4-BE49-F238E27FC236}">
                <a16:creationId xmlns:a16="http://schemas.microsoft.com/office/drawing/2014/main" id="{D3FE2E69-02D5-48AF-9D75-3B00819477C1}"/>
              </a:ext>
            </a:extLst>
          </p:cNvPr>
          <p:cNvSpPr txBox="1"/>
          <p:nvPr/>
        </p:nvSpPr>
        <p:spPr>
          <a:xfrm>
            <a:off x="1121790" y="1819295"/>
            <a:ext cx="8415779" cy="375552"/>
          </a:xfrm>
          <a:prstGeom prst="rect">
            <a:avLst/>
          </a:prstGeom>
          <a:noFill/>
        </p:spPr>
        <p:txBody>
          <a:bodyPr wrap="square">
            <a:spAutoFit/>
          </a:bodyPr>
          <a:lstStyle/>
          <a:p>
            <a:pPr marR="0" lvl="0">
              <a:lnSpc>
                <a:spcPct val="107000"/>
              </a:lnSpc>
              <a:spcBef>
                <a:spcPts val="0"/>
              </a:spcBef>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Enhance the overall lunch experience, providing more control and choices to employees.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9899DB57-32C3-43E5-AD42-DACDD0A92225}"/>
              </a:ext>
            </a:extLst>
          </p:cNvPr>
          <p:cNvSpPr txBox="1"/>
          <p:nvPr/>
        </p:nvSpPr>
        <p:spPr>
          <a:xfrm>
            <a:off x="1121790" y="1115550"/>
            <a:ext cx="6605832" cy="470000"/>
          </a:xfrm>
          <a:prstGeom prst="rect">
            <a:avLst/>
          </a:prstGeom>
          <a:noFill/>
        </p:spPr>
        <p:txBody>
          <a:bodyPr wrap="square">
            <a:spAutoFit/>
          </a:bodyPr>
          <a:lstStyle/>
          <a:p>
            <a:pPr marR="0" lvl="0">
              <a:lnSpc>
                <a:spcPct val="107000"/>
              </a:lnSpc>
              <a:spcBef>
                <a:spcPts val="0"/>
              </a:spcBef>
              <a:spcAft>
                <a:spcPts val="800"/>
              </a:spcAft>
            </a:pPr>
            <a:r>
              <a:rPr lang="en-GB" sz="2400" b="1" kern="100" dirty="0">
                <a:effectLst/>
                <a:latin typeface="Calibri" panose="020F0502020204030204" pitchFamily="34" charset="0"/>
                <a:ea typeface="Calibri" panose="020F0502020204030204" pitchFamily="34" charset="0"/>
                <a:cs typeface="Times New Roman" panose="02020603050405020304" pitchFamily="18" charset="0"/>
              </a:rPr>
              <a:t>Improve Employee Satisfaction</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6F46C963-C958-44ED-A576-340872C40AEC}"/>
              </a:ext>
            </a:extLst>
          </p:cNvPr>
          <p:cNvSpPr txBox="1"/>
          <p:nvPr/>
        </p:nvSpPr>
        <p:spPr>
          <a:xfrm>
            <a:off x="1121790" y="3902695"/>
            <a:ext cx="8905973" cy="375552"/>
          </a:xfrm>
          <a:prstGeom prst="rect">
            <a:avLst/>
          </a:prstGeom>
          <a:noFill/>
        </p:spPr>
        <p:txBody>
          <a:bodyPr wrap="square">
            <a:spAutoFit/>
          </a:bodyPr>
          <a:lstStyle/>
          <a:p>
            <a:pPr marR="0" lvl="0">
              <a:lnSpc>
                <a:spcPct val="107000"/>
              </a:lnSpc>
              <a:spcBef>
                <a:spcPts val="0"/>
              </a:spcBef>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Establish a smooth and timely delivery system to employees' workstations.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TextBox 18">
            <a:extLst>
              <a:ext uri="{FF2B5EF4-FFF2-40B4-BE49-F238E27FC236}">
                <a16:creationId xmlns:a16="http://schemas.microsoft.com/office/drawing/2014/main" id="{F65704AF-5CEB-412B-B73D-94BDFD29135B}"/>
              </a:ext>
            </a:extLst>
          </p:cNvPr>
          <p:cNvSpPr txBox="1"/>
          <p:nvPr/>
        </p:nvSpPr>
        <p:spPr>
          <a:xfrm>
            <a:off x="1121790" y="3210657"/>
            <a:ext cx="6094428" cy="470000"/>
          </a:xfrm>
          <a:prstGeom prst="rect">
            <a:avLst/>
          </a:prstGeom>
          <a:noFill/>
        </p:spPr>
        <p:txBody>
          <a:bodyPr wrap="square">
            <a:spAutoFit/>
          </a:bodyPr>
          <a:lstStyle/>
          <a:p>
            <a:pPr marR="0" lvl="0">
              <a:lnSpc>
                <a:spcPct val="107000"/>
              </a:lnSpc>
              <a:spcBef>
                <a:spcPts val="0"/>
              </a:spcBef>
              <a:spcAft>
                <a:spcPts val="800"/>
              </a:spcAft>
            </a:pPr>
            <a:r>
              <a:rPr lang="en-GB" sz="2400" b="1" kern="100" dirty="0">
                <a:effectLst/>
                <a:latin typeface="Calibri" panose="020F0502020204030204" pitchFamily="34" charset="0"/>
                <a:ea typeface="Calibri" panose="020F0502020204030204" pitchFamily="34" charset="0"/>
                <a:cs typeface="Times New Roman" panose="02020603050405020304" pitchFamily="18" charset="0"/>
              </a:rPr>
              <a:t>Streamline Delivery Process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TextBox 19">
            <a:extLst>
              <a:ext uri="{FF2B5EF4-FFF2-40B4-BE49-F238E27FC236}">
                <a16:creationId xmlns:a16="http://schemas.microsoft.com/office/drawing/2014/main" id="{00A4E52B-3F47-4E79-B882-90EDF82351EE}"/>
              </a:ext>
            </a:extLst>
          </p:cNvPr>
          <p:cNvSpPr txBox="1"/>
          <p:nvPr/>
        </p:nvSpPr>
        <p:spPr>
          <a:xfrm>
            <a:off x="1121790" y="5724463"/>
            <a:ext cx="9785807" cy="375552"/>
          </a:xfrm>
          <a:prstGeom prst="rect">
            <a:avLst/>
          </a:prstGeom>
          <a:noFill/>
        </p:spPr>
        <p:txBody>
          <a:bodyPr wrap="square">
            <a:spAutoFit/>
          </a:bodyPr>
          <a:lstStyle/>
          <a:p>
            <a:pPr marL="0" marR="0">
              <a:lnSpc>
                <a:spcPct val="107000"/>
              </a:lnSpc>
              <a:spcBef>
                <a:spcPts val="0"/>
              </a:spcBef>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Allow employees to provide feedback on the system, food quality, and delivery process.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TextBox 21">
            <a:extLst>
              <a:ext uri="{FF2B5EF4-FFF2-40B4-BE49-F238E27FC236}">
                <a16:creationId xmlns:a16="http://schemas.microsoft.com/office/drawing/2014/main" id="{41681863-C98A-427A-9B85-F1155296D03B}"/>
              </a:ext>
            </a:extLst>
          </p:cNvPr>
          <p:cNvSpPr txBox="1"/>
          <p:nvPr/>
        </p:nvSpPr>
        <p:spPr>
          <a:xfrm>
            <a:off x="1121790" y="5053633"/>
            <a:ext cx="6094428" cy="470000"/>
          </a:xfrm>
          <a:prstGeom prst="rect">
            <a:avLst/>
          </a:prstGeom>
          <a:noFill/>
        </p:spPr>
        <p:txBody>
          <a:bodyPr wrap="square">
            <a:spAutoFit/>
          </a:bodyPr>
          <a:lstStyle/>
          <a:p>
            <a:pPr marR="0" lvl="0">
              <a:lnSpc>
                <a:spcPct val="107000"/>
              </a:lnSpc>
              <a:spcBef>
                <a:spcPts val="0"/>
              </a:spcBef>
              <a:spcAft>
                <a:spcPts val="800"/>
              </a:spcAft>
            </a:pPr>
            <a:r>
              <a:rPr lang="en-GB" sz="2400" b="1" kern="100" dirty="0">
                <a:effectLst/>
                <a:latin typeface="Calibri" panose="020F0502020204030204" pitchFamily="34" charset="0"/>
                <a:ea typeface="Calibri" panose="020F0502020204030204" pitchFamily="34" charset="0"/>
                <a:cs typeface="Times New Roman" panose="02020603050405020304" pitchFamily="18" charset="0"/>
              </a:rPr>
              <a:t>Implement Feedback Mechanism</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8" name="TextBox 27">
            <a:extLst>
              <a:ext uri="{FF2B5EF4-FFF2-40B4-BE49-F238E27FC236}">
                <a16:creationId xmlns:a16="http://schemas.microsoft.com/office/drawing/2014/main" id="{9B6B8442-E35C-492E-B316-92D9BEA7515D}"/>
              </a:ext>
            </a:extLst>
          </p:cNvPr>
          <p:cNvSpPr txBox="1"/>
          <p:nvPr/>
        </p:nvSpPr>
        <p:spPr>
          <a:xfrm>
            <a:off x="-16890" y="-41634"/>
            <a:ext cx="11865990" cy="800412"/>
          </a:xfrm>
          <a:prstGeom prst="rect">
            <a:avLst/>
          </a:prstGeom>
          <a:noFill/>
        </p:spPr>
        <p:txBody>
          <a:bodyPr wrap="square">
            <a:spAutoFit/>
          </a:bodyPr>
          <a:lstStyle/>
          <a:p>
            <a:pPr marR="0" lvl="0">
              <a:lnSpc>
                <a:spcPct val="107000"/>
              </a:lnSpc>
              <a:spcBef>
                <a:spcPts val="0"/>
              </a:spcBef>
              <a:spcAft>
                <a:spcPts val="800"/>
              </a:spcAft>
            </a:pPr>
            <a:r>
              <a:rPr lang="en-GB" sz="4500" b="1" kern="100" dirty="0">
                <a:latin typeface="Calibri" panose="020F0502020204030204" pitchFamily="34" charset="0"/>
                <a:ea typeface="Calibri" panose="020F0502020204030204" pitchFamily="34" charset="0"/>
                <a:cs typeface="Times New Roman" panose="02020603050405020304" pitchFamily="18" charset="0"/>
              </a:rPr>
              <a:t>O</a:t>
            </a:r>
            <a:r>
              <a:rPr lang="en-GB" sz="4500" b="1" kern="100" dirty="0">
                <a:effectLst/>
                <a:latin typeface="Calibri" panose="020F0502020204030204" pitchFamily="34" charset="0"/>
                <a:ea typeface="Calibri" panose="020F0502020204030204" pitchFamily="34" charset="0"/>
                <a:cs typeface="Times New Roman" panose="02020603050405020304" pitchFamily="18" charset="0"/>
              </a:rPr>
              <a:t>bjectives of the new canteen ordering system</a:t>
            </a:r>
            <a:endParaRPr lang="en-US" sz="45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67785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E847294-15C9-431D-96A3-F8736FF6DABA}"/>
              </a:ext>
            </a:extLst>
          </p:cNvPr>
          <p:cNvSpPr/>
          <p:nvPr/>
        </p:nvSpPr>
        <p:spPr>
          <a:xfrm>
            <a:off x="708582" y="1338605"/>
            <a:ext cx="10415047" cy="1319754"/>
          </a:xfrm>
          <a:prstGeom prst="rect">
            <a:avLst/>
          </a:prstGeom>
          <a:solidFill>
            <a:srgbClr val="DEB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8B0B4D0-BED9-42B6-9246-70D488CBA00E}"/>
              </a:ext>
            </a:extLst>
          </p:cNvPr>
          <p:cNvSpPr/>
          <p:nvPr/>
        </p:nvSpPr>
        <p:spPr>
          <a:xfrm>
            <a:off x="518475" y="1065228"/>
            <a:ext cx="9954705" cy="546755"/>
          </a:xfrm>
          <a:prstGeom prst="rect">
            <a:avLst/>
          </a:prstGeom>
          <a:solidFill>
            <a:schemeClr val="bg1"/>
          </a:solidFill>
          <a:ln>
            <a:solidFill>
              <a:srgbClr val="FAD4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B6207A92-5EAD-44F5-83FF-4FA9AB8675FF}"/>
              </a:ext>
            </a:extLst>
          </p:cNvPr>
          <p:cNvSpPr/>
          <p:nvPr/>
        </p:nvSpPr>
        <p:spPr>
          <a:xfrm>
            <a:off x="201106" y="1183063"/>
            <a:ext cx="904973" cy="857839"/>
          </a:xfrm>
          <a:prstGeom prst="ellipse">
            <a:avLst/>
          </a:prstGeom>
          <a:solidFill>
            <a:schemeClr val="bg1"/>
          </a:solidFill>
          <a:ln>
            <a:solidFill>
              <a:srgbClr val="FAD4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07</a:t>
            </a:r>
          </a:p>
        </p:txBody>
      </p:sp>
      <p:sp>
        <p:nvSpPr>
          <p:cNvPr id="16" name="TextBox 15">
            <a:extLst>
              <a:ext uri="{FF2B5EF4-FFF2-40B4-BE49-F238E27FC236}">
                <a16:creationId xmlns:a16="http://schemas.microsoft.com/office/drawing/2014/main" id="{5F7FBE49-3EA0-499C-8295-1E232F4D7A99}"/>
              </a:ext>
            </a:extLst>
          </p:cNvPr>
          <p:cNvSpPr txBox="1"/>
          <p:nvPr/>
        </p:nvSpPr>
        <p:spPr>
          <a:xfrm>
            <a:off x="1013382" y="1679945"/>
            <a:ext cx="9872220" cy="671915"/>
          </a:xfrm>
          <a:prstGeom prst="rect">
            <a:avLst/>
          </a:prstGeom>
          <a:noFill/>
        </p:spPr>
        <p:txBody>
          <a:bodyPr wrap="square">
            <a:spAutoFit/>
          </a:bodyPr>
          <a:lstStyle/>
          <a:p>
            <a:pPr marR="0" lvl="0">
              <a:lnSpc>
                <a:spcPct val="107000"/>
              </a:lnSpc>
              <a:spcBef>
                <a:spcPts val="0"/>
              </a:spcBef>
              <a:spcAft>
                <a:spcPts val="800"/>
              </a:spcAf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Facilitate a seamless deduction process from Reduce employees' salaries for the ordered dishes at the end of the month</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C2FFC2D3-C2B1-4C86-9E7A-7197F86258ED}"/>
              </a:ext>
            </a:extLst>
          </p:cNvPr>
          <p:cNvSpPr txBox="1"/>
          <p:nvPr/>
        </p:nvSpPr>
        <p:spPr>
          <a:xfrm>
            <a:off x="1068371" y="1062652"/>
            <a:ext cx="6094428" cy="470000"/>
          </a:xfrm>
          <a:prstGeom prst="rect">
            <a:avLst/>
          </a:prstGeom>
          <a:noFill/>
        </p:spPr>
        <p:txBody>
          <a:bodyPr wrap="square">
            <a:spAutoFit/>
          </a:bodyPr>
          <a:lstStyle/>
          <a:p>
            <a:pPr marR="0" lvl="0">
              <a:lnSpc>
                <a:spcPct val="107000"/>
              </a:lnSpc>
              <a:spcBef>
                <a:spcPts val="0"/>
              </a:spcBef>
              <a:spcAft>
                <a:spcPts val="800"/>
              </a:spcAft>
            </a:pPr>
            <a:r>
              <a:rPr lang="en-GB" sz="2400" b="1" kern="100" dirty="0">
                <a:effectLst/>
                <a:latin typeface="Calibri" panose="020F0502020204030204" pitchFamily="34" charset="0"/>
                <a:ea typeface="Calibri" panose="020F0502020204030204" pitchFamily="34" charset="0"/>
                <a:cs typeface="Times New Roman" panose="02020603050405020304" pitchFamily="18" charset="0"/>
              </a:rPr>
              <a:t>Ensure Payroll Integration</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383D85FD-1A6D-475A-9917-97A5BB89D53D}"/>
              </a:ext>
            </a:extLst>
          </p:cNvPr>
          <p:cNvSpPr txBox="1"/>
          <p:nvPr/>
        </p:nvSpPr>
        <p:spPr>
          <a:xfrm>
            <a:off x="-16890" y="-41634"/>
            <a:ext cx="11865990" cy="800412"/>
          </a:xfrm>
          <a:prstGeom prst="rect">
            <a:avLst/>
          </a:prstGeom>
          <a:noFill/>
        </p:spPr>
        <p:txBody>
          <a:bodyPr wrap="square">
            <a:spAutoFit/>
          </a:bodyPr>
          <a:lstStyle/>
          <a:p>
            <a:pPr marR="0" lvl="0">
              <a:lnSpc>
                <a:spcPct val="107000"/>
              </a:lnSpc>
              <a:spcBef>
                <a:spcPts val="0"/>
              </a:spcBef>
              <a:spcAft>
                <a:spcPts val="800"/>
              </a:spcAft>
            </a:pPr>
            <a:r>
              <a:rPr lang="en-GB" sz="4500" b="1" kern="100" dirty="0">
                <a:latin typeface="Calibri" panose="020F0502020204030204" pitchFamily="34" charset="0"/>
                <a:ea typeface="Calibri" panose="020F0502020204030204" pitchFamily="34" charset="0"/>
                <a:cs typeface="Times New Roman" panose="02020603050405020304" pitchFamily="18" charset="0"/>
              </a:rPr>
              <a:t>O</a:t>
            </a:r>
            <a:r>
              <a:rPr lang="en-GB" sz="4500" b="1" kern="100" dirty="0">
                <a:effectLst/>
                <a:latin typeface="Calibri" panose="020F0502020204030204" pitchFamily="34" charset="0"/>
                <a:ea typeface="Calibri" panose="020F0502020204030204" pitchFamily="34" charset="0"/>
                <a:cs typeface="Times New Roman" panose="02020603050405020304" pitchFamily="18" charset="0"/>
              </a:rPr>
              <a:t>bjectives of the new canteen ordering system</a:t>
            </a:r>
            <a:endParaRPr lang="en-US" sz="45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43862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02AA04-C938-4439-ABB8-80FDD5472316}"/>
              </a:ext>
            </a:extLst>
          </p:cNvPr>
          <p:cNvSpPr/>
          <p:nvPr/>
        </p:nvSpPr>
        <p:spPr>
          <a:xfrm>
            <a:off x="556181" y="970961"/>
            <a:ext cx="11263460" cy="5571241"/>
          </a:xfrm>
          <a:prstGeom prst="rect">
            <a:avLst/>
          </a:prstGeom>
          <a:solidFill>
            <a:schemeClr val="bg1"/>
          </a:solidFill>
          <a:ln w="76200">
            <a:solidFill>
              <a:srgbClr val="FEE4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Folded Corner 7">
            <a:extLst>
              <a:ext uri="{FF2B5EF4-FFF2-40B4-BE49-F238E27FC236}">
                <a16:creationId xmlns:a16="http://schemas.microsoft.com/office/drawing/2014/main" id="{C3388A67-E741-42A8-B072-D0C45A874CD4}"/>
              </a:ext>
            </a:extLst>
          </p:cNvPr>
          <p:cNvSpPr/>
          <p:nvPr/>
        </p:nvSpPr>
        <p:spPr>
          <a:xfrm>
            <a:off x="6928702" y="1630835"/>
            <a:ext cx="4386606" cy="4176075"/>
          </a:xfrm>
          <a:prstGeom prst="foldedCorner">
            <a:avLst/>
          </a:prstGeom>
          <a:solidFill>
            <a:srgbClr val="FCC6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Folded Corner 6">
            <a:extLst>
              <a:ext uri="{FF2B5EF4-FFF2-40B4-BE49-F238E27FC236}">
                <a16:creationId xmlns:a16="http://schemas.microsoft.com/office/drawing/2014/main" id="{AD7B1DFE-5B2B-4599-B1DC-F146D2751042}"/>
              </a:ext>
            </a:extLst>
          </p:cNvPr>
          <p:cNvSpPr/>
          <p:nvPr/>
        </p:nvSpPr>
        <p:spPr>
          <a:xfrm>
            <a:off x="1052660" y="1621410"/>
            <a:ext cx="4386606" cy="4176075"/>
          </a:xfrm>
          <a:prstGeom prst="foldedCorner">
            <a:avLst/>
          </a:prstGeom>
          <a:solidFill>
            <a:srgbClr val="F099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148CC25-97EE-4053-8564-F91AD27D305A}"/>
              </a:ext>
            </a:extLst>
          </p:cNvPr>
          <p:cNvSpPr txBox="1"/>
          <p:nvPr/>
        </p:nvSpPr>
        <p:spPr>
          <a:xfrm>
            <a:off x="1246696" y="1923796"/>
            <a:ext cx="6094428" cy="3700244"/>
          </a:xfrm>
          <a:prstGeom prst="rect">
            <a:avLst/>
          </a:prstGeom>
          <a:noFill/>
        </p:spPr>
        <p:txBody>
          <a:bodyPr wrap="square">
            <a:spAutoFit/>
          </a:bodyPr>
          <a:lstStyle/>
          <a:p>
            <a:pPr marL="342900" marR="0" lvl="0" indent="-342900" algn="just">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User authentication.</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Menu management.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Order placement.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Order confirmation.</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Order processing.</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Delivery coordination.</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Feedback mechanism.</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Enrolment for salary deduction.</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Reporting and analytics.</a:t>
            </a:r>
          </a:p>
          <a:p>
            <a:pPr marL="342900" indent="-342900" algn="just">
              <a:lnSpc>
                <a:spcPct val="107000"/>
              </a:lnSpc>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User support.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Symbol" panose="05050102010706020507" pitchFamily="18" charset="2"/>
              <a:buChar char=""/>
            </a:pP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B2F6FB19-0F7D-42AC-93FF-7DEA6951B9FB}"/>
              </a:ext>
            </a:extLst>
          </p:cNvPr>
          <p:cNvSpPr txBox="1"/>
          <p:nvPr/>
        </p:nvSpPr>
        <p:spPr>
          <a:xfrm>
            <a:off x="7146304" y="1865716"/>
            <a:ext cx="6094428" cy="3370923"/>
          </a:xfrm>
          <a:prstGeom prst="rect">
            <a:avLst/>
          </a:prstGeom>
          <a:noFill/>
        </p:spPr>
        <p:txBody>
          <a:bodyPr wrap="square">
            <a:spAutoFit/>
          </a:bodyPr>
          <a:lstStyle/>
          <a:p>
            <a:pPr marL="342900" marR="0" lvl="0" indent="-342900">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User communication.</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Training module.</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System security.</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Accessibility .</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Integration with payroll system.</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Error handling.</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Audit trail.</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Scalability.</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Compliance.</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GB" sz="2000" kern="100" dirty="0">
                <a:effectLst/>
                <a:latin typeface="Calibri" panose="020F0502020204030204" pitchFamily="34" charset="0"/>
                <a:ea typeface="Calibri" panose="020F0502020204030204" pitchFamily="34" charset="0"/>
                <a:cs typeface="Times New Roman" panose="02020603050405020304" pitchFamily="18" charset="0"/>
              </a:rPr>
              <a:t>Offline mode.</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C377BCF6-CE1F-411D-9FA4-B08EEF4A15DA}"/>
              </a:ext>
            </a:extLst>
          </p:cNvPr>
          <p:cNvSpPr/>
          <p:nvPr/>
        </p:nvSpPr>
        <p:spPr>
          <a:xfrm>
            <a:off x="5714605" y="970961"/>
            <a:ext cx="846451" cy="5571241"/>
          </a:xfrm>
          <a:prstGeom prst="rect">
            <a:avLst/>
          </a:prstGeom>
          <a:solidFill>
            <a:srgbClr val="FEE4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F99FA99-7D7F-4D77-B3F2-98F785A01DA7}"/>
              </a:ext>
            </a:extLst>
          </p:cNvPr>
          <p:cNvSpPr txBox="1"/>
          <p:nvPr/>
        </p:nvSpPr>
        <p:spPr>
          <a:xfrm>
            <a:off x="118619" y="19356"/>
            <a:ext cx="12073381" cy="800412"/>
          </a:xfrm>
          <a:prstGeom prst="rect">
            <a:avLst/>
          </a:prstGeom>
          <a:noFill/>
        </p:spPr>
        <p:txBody>
          <a:bodyPr wrap="square">
            <a:spAutoFit/>
          </a:bodyPr>
          <a:lstStyle/>
          <a:p>
            <a:pPr marR="0" lvl="0">
              <a:lnSpc>
                <a:spcPct val="107000"/>
              </a:lnSpc>
              <a:spcBef>
                <a:spcPts val="0"/>
              </a:spcBef>
              <a:spcAft>
                <a:spcPts val="800"/>
              </a:spcAft>
            </a:pPr>
            <a:r>
              <a:rPr lang="en-GB" sz="4500" b="1" kern="100" dirty="0">
                <a:latin typeface="Calibri" panose="020F0502020204030204" pitchFamily="34" charset="0"/>
                <a:ea typeface="Calibri" panose="020F0502020204030204" pitchFamily="34" charset="0"/>
                <a:cs typeface="Times New Roman" panose="02020603050405020304" pitchFamily="18" charset="0"/>
              </a:rPr>
              <a:t>M</a:t>
            </a:r>
            <a:r>
              <a:rPr lang="en-GB" sz="4500" b="1" kern="100" dirty="0">
                <a:effectLst/>
                <a:latin typeface="Calibri" panose="020F0502020204030204" pitchFamily="34" charset="0"/>
                <a:ea typeface="Calibri" panose="020F0502020204030204" pitchFamily="34" charset="0"/>
                <a:cs typeface="Times New Roman" panose="02020603050405020304" pitchFamily="18" charset="0"/>
              </a:rPr>
              <a:t>ain features to be developed in this new System</a:t>
            </a:r>
            <a:endParaRPr lang="en-US" sz="45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08268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FB84D5A7-4954-4ACB-AF53-DF56CE730BDA}"/>
              </a:ext>
            </a:extLst>
          </p:cNvPr>
          <p:cNvSpPr/>
          <p:nvPr/>
        </p:nvSpPr>
        <p:spPr>
          <a:xfrm>
            <a:off x="4059023" y="4986475"/>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0F8595D-45FC-4A7A-BC89-42CF25F5422D}"/>
              </a:ext>
            </a:extLst>
          </p:cNvPr>
          <p:cNvSpPr/>
          <p:nvPr/>
        </p:nvSpPr>
        <p:spPr>
          <a:xfrm>
            <a:off x="5725212" y="3753982"/>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AC566CB-D706-496B-AFCA-ABCD330B52BB}"/>
              </a:ext>
            </a:extLst>
          </p:cNvPr>
          <p:cNvSpPr/>
          <p:nvPr/>
        </p:nvSpPr>
        <p:spPr>
          <a:xfrm>
            <a:off x="11099275" y="3909767"/>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7517EBB-DF73-4F1E-82A6-D2F7AABBBD8E}"/>
              </a:ext>
            </a:extLst>
          </p:cNvPr>
          <p:cNvSpPr/>
          <p:nvPr/>
        </p:nvSpPr>
        <p:spPr>
          <a:xfrm>
            <a:off x="1694467" y="2429880"/>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2454A46-199B-4C27-8258-6A32A728F4C9}"/>
              </a:ext>
            </a:extLst>
          </p:cNvPr>
          <p:cNvSpPr/>
          <p:nvPr/>
        </p:nvSpPr>
        <p:spPr>
          <a:xfrm>
            <a:off x="0" y="23567"/>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015CF59-5E25-469B-95BB-F6A31DF2BB72}"/>
              </a:ext>
            </a:extLst>
          </p:cNvPr>
          <p:cNvSpPr/>
          <p:nvPr/>
        </p:nvSpPr>
        <p:spPr>
          <a:xfrm>
            <a:off x="10516386" y="5896466"/>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075E836-CDE0-4E1C-B473-FE29962074CE}"/>
              </a:ext>
            </a:extLst>
          </p:cNvPr>
          <p:cNvSpPr/>
          <p:nvPr/>
        </p:nvSpPr>
        <p:spPr>
          <a:xfrm>
            <a:off x="9706464" y="1178591"/>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1E98BF5-194C-4E9B-AADA-01F22748B2E8}"/>
              </a:ext>
            </a:extLst>
          </p:cNvPr>
          <p:cNvSpPr/>
          <p:nvPr/>
        </p:nvSpPr>
        <p:spPr>
          <a:xfrm>
            <a:off x="426562" y="2167353"/>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034E533-67CA-42B1-941B-59B4026B4D60}"/>
              </a:ext>
            </a:extLst>
          </p:cNvPr>
          <p:cNvSpPr txBox="1"/>
          <p:nvPr/>
        </p:nvSpPr>
        <p:spPr>
          <a:xfrm>
            <a:off x="1186206" y="1209656"/>
            <a:ext cx="9747314" cy="5018810"/>
          </a:xfrm>
          <a:prstGeom prst="rect">
            <a:avLst/>
          </a:prstGeom>
          <a:noFill/>
        </p:spPr>
        <p:txBody>
          <a:bodyPr wrap="square">
            <a:spAutoFit/>
          </a:bodyPr>
          <a:lstStyle/>
          <a:p>
            <a:pPr marL="342900" marR="0" lvl="0" indent="-342900" algn="just">
              <a:lnSpc>
                <a:spcPct val="107000"/>
              </a:lnSpc>
              <a:spcBef>
                <a:spcPts val="0"/>
              </a:spcBef>
              <a:spcAft>
                <a:spcPts val="0"/>
              </a:spcAft>
              <a:buFont typeface="+mj-lt"/>
              <a:buAutoNum type="arabicPeriod"/>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an employee, I want to log in securely to the canteen ordering system so that only authorized user can access the platform.</a:t>
            </a:r>
          </a:p>
          <a:p>
            <a:pPr marL="342900" marR="0" lvl="0" indent="-342900" algn="just">
              <a:lnSpc>
                <a:spcPct val="107000"/>
              </a:lnSpc>
              <a:spcBef>
                <a:spcPts val="0"/>
              </a:spcBef>
              <a:spcAft>
                <a:spcPts val="0"/>
              </a:spcAft>
              <a:buFont typeface="+mj-lt"/>
              <a:buAutoNum type="arabicPeriod"/>
            </a:pP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an employee, I want the option to select and order lunch items from menu, with the flexibility to edit or modify my order before 11am cut off time</a:t>
            </a:r>
            <a:r>
              <a:rPr lang="en-GB" sz="2000" b="1"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gn="just">
              <a:lnSpc>
                <a:spcPct val="107000"/>
              </a:lnSpc>
              <a:spcBef>
                <a:spcPts val="0"/>
              </a:spcBef>
              <a:spcAft>
                <a:spcPts val="0"/>
              </a:spcAft>
              <a:buFont typeface="+mj-lt"/>
              <a:buAutoNum type="arabicPeriod"/>
            </a:pP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an employee, I want to browse an up</a:t>
            </a:r>
            <a:r>
              <a:rPr lang="en-GB" sz="2000" b="1" kern="100" dirty="0">
                <a:effectLst/>
                <a:latin typeface="Calibri" panose="020F0502020204030204" pitchFamily="34" charset="0"/>
                <a:ea typeface="Calibri" panose="020F0502020204030204" pitchFamily="34" charset="0"/>
                <a:cs typeface="Times New Roman" panose="02020603050405020304" pitchFamily="18" charset="0"/>
              </a:rPr>
              <a:t>-</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to-date menu with detailed dish information and prices, ensuring I can make informed choices.</a:t>
            </a:r>
          </a:p>
          <a:p>
            <a:pPr marL="342900" marR="0" lvl="0" indent="-342900" algn="just">
              <a:lnSpc>
                <a:spcPct val="107000"/>
              </a:lnSpc>
              <a:spcBef>
                <a:spcPts val="0"/>
              </a:spcBef>
              <a:spcAft>
                <a:spcPts val="0"/>
              </a:spcAft>
              <a:buFont typeface="+mj-lt"/>
              <a:buAutoNum type="arabicPeriod"/>
            </a:pP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an employee, I want the options to select and order lunch items from the menu, with the flexibility to edit or modify my order before the 11am cut off time.</a:t>
            </a:r>
          </a:p>
          <a:p>
            <a:pPr marL="342900" marR="0" lvl="0" indent="-342900" algn="just">
              <a:lnSpc>
                <a:spcPct val="107000"/>
              </a:lnSpc>
              <a:spcBef>
                <a:spcPts val="0"/>
              </a:spcBef>
              <a:spcAft>
                <a:spcPts val="0"/>
              </a:spcAft>
              <a:buFont typeface="+mj-lt"/>
              <a:buAutoNum type="arabicPeriod"/>
            </a:pP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a:pPr>
            <a:r>
              <a:rPr lang="en-GB" b="1" kern="100" dirty="0">
                <a:effectLst/>
                <a:latin typeface="Calibri" panose="020F0502020204030204" pitchFamily="34" charset="0"/>
                <a:ea typeface="Calibri" panose="020F0502020204030204" pitchFamily="34" charset="0"/>
                <a:cs typeface="Times New Roman" panose="02020603050405020304" pitchFamily="18" charset="0"/>
              </a:rPr>
              <a:t>As an employee, I want to receive a confirmation once my order is placed, ensuring that I am aware that my order is being process and prepared.</a:t>
            </a:r>
          </a:p>
          <a:p>
            <a:pPr marL="342900" marR="0" lvl="0" indent="-342900" algn="just">
              <a:lnSpc>
                <a:spcPct val="107000"/>
              </a:lnSpc>
              <a:spcBef>
                <a:spcPts val="0"/>
              </a:spcBef>
              <a:spcAft>
                <a:spcPts val="0"/>
              </a:spcAft>
              <a:buFont typeface="+mj-lt"/>
              <a:buAutoNum type="arabicPeriod"/>
            </a:pP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 canteen manager, I want to view and process employee orders efficiently, coordinating with chefs for timely preparation.</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Frame 5">
            <a:extLst>
              <a:ext uri="{FF2B5EF4-FFF2-40B4-BE49-F238E27FC236}">
                <a16:creationId xmlns:a16="http://schemas.microsoft.com/office/drawing/2014/main" id="{BACA87EA-F4D1-4661-AFA9-3C274B75DC5B}"/>
              </a:ext>
            </a:extLst>
          </p:cNvPr>
          <p:cNvSpPr/>
          <p:nvPr/>
        </p:nvSpPr>
        <p:spPr>
          <a:xfrm>
            <a:off x="782425" y="820131"/>
            <a:ext cx="10482606" cy="5867703"/>
          </a:xfrm>
          <a:prstGeom prst="frame">
            <a:avLst>
              <a:gd name="adj1" fmla="val 5263"/>
            </a:avLst>
          </a:prstGeom>
          <a:solidFill>
            <a:srgbClr val="FEE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a:extLst>
              <a:ext uri="{FF2B5EF4-FFF2-40B4-BE49-F238E27FC236}">
                <a16:creationId xmlns:a16="http://schemas.microsoft.com/office/drawing/2014/main" id="{52F57A4A-407A-4EAE-838A-323754F9B76D}"/>
              </a:ext>
            </a:extLst>
          </p:cNvPr>
          <p:cNvSpPr txBox="1"/>
          <p:nvPr/>
        </p:nvSpPr>
        <p:spPr>
          <a:xfrm>
            <a:off x="0" y="52948"/>
            <a:ext cx="10206871" cy="630942"/>
          </a:xfrm>
          <a:prstGeom prst="rect">
            <a:avLst/>
          </a:prstGeom>
          <a:noFill/>
        </p:spPr>
        <p:txBody>
          <a:bodyPr wrap="square">
            <a:spAutoFit/>
          </a:bodyPr>
          <a:lstStyle/>
          <a:p>
            <a:r>
              <a:rPr lang="en-GB" sz="3500" b="1" dirty="0">
                <a:effectLst/>
                <a:latin typeface="Calibri" panose="020F0502020204030204" pitchFamily="34" charset="0"/>
                <a:ea typeface="Calibri" panose="020F0502020204030204" pitchFamily="34" charset="0"/>
                <a:cs typeface="Times New Roman" panose="02020603050405020304" pitchFamily="18" charset="0"/>
              </a:rPr>
              <a:t>Translate the To-Be Requirements into User Stories.</a:t>
            </a:r>
            <a:endParaRPr lang="en-US" sz="3500" dirty="0"/>
          </a:p>
        </p:txBody>
      </p:sp>
      <p:sp>
        <p:nvSpPr>
          <p:cNvPr id="22" name="Oval 21">
            <a:extLst>
              <a:ext uri="{FF2B5EF4-FFF2-40B4-BE49-F238E27FC236}">
                <a16:creationId xmlns:a16="http://schemas.microsoft.com/office/drawing/2014/main" id="{ED10172C-12CC-4725-B7A1-3557900108CF}"/>
              </a:ext>
            </a:extLst>
          </p:cNvPr>
          <p:cNvSpPr/>
          <p:nvPr/>
        </p:nvSpPr>
        <p:spPr>
          <a:xfrm>
            <a:off x="11517199" y="205928"/>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9610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FB84D5A7-4954-4ACB-AF53-DF56CE730BDA}"/>
              </a:ext>
            </a:extLst>
          </p:cNvPr>
          <p:cNvSpPr/>
          <p:nvPr/>
        </p:nvSpPr>
        <p:spPr>
          <a:xfrm>
            <a:off x="4059023" y="4986475"/>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0F8595D-45FC-4A7A-BC89-42CF25F5422D}"/>
              </a:ext>
            </a:extLst>
          </p:cNvPr>
          <p:cNvSpPr/>
          <p:nvPr/>
        </p:nvSpPr>
        <p:spPr>
          <a:xfrm>
            <a:off x="5725212" y="3753982"/>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AC566CB-D706-496B-AFCA-ABCD330B52BB}"/>
              </a:ext>
            </a:extLst>
          </p:cNvPr>
          <p:cNvSpPr/>
          <p:nvPr/>
        </p:nvSpPr>
        <p:spPr>
          <a:xfrm>
            <a:off x="11099275" y="3909767"/>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7517EBB-DF73-4F1E-82A6-D2F7AABBBD8E}"/>
              </a:ext>
            </a:extLst>
          </p:cNvPr>
          <p:cNvSpPr/>
          <p:nvPr/>
        </p:nvSpPr>
        <p:spPr>
          <a:xfrm>
            <a:off x="1694467" y="2429880"/>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2454A46-199B-4C27-8258-6A32A728F4C9}"/>
              </a:ext>
            </a:extLst>
          </p:cNvPr>
          <p:cNvSpPr/>
          <p:nvPr/>
        </p:nvSpPr>
        <p:spPr>
          <a:xfrm>
            <a:off x="0" y="23567"/>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015CF59-5E25-469B-95BB-F6A31DF2BB72}"/>
              </a:ext>
            </a:extLst>
          </p:cNvPr>
          <p:cNvSpPr/>
          <p:nvPr/>
        </p:nvSpPr>
        <p:spPr>
          <a:xfrm>
            <a:off x="10516386" y="5896466"/>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075E836-CDE0-4E1C-B473-FE29962074CE}"/>
              </a:ext>
            </a:extLst>
          </p:cNvPr>
          <p:cNvSpPr/>
          <p:nvPr/>
        </p:nvSpPr>
        <p:spPr>
          <a:xfrm>
            <a:off x="9706464" y="1178591"/>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1E98BF5-194C-4E9B-AADA-01F22748B2E8}"/>
              </a:ext>
            </a:extLst>
          </p:cNvPr>
          <p:cNvSpPr/>
          <p:nvPr/>
        </p:nvSpPr>
        <p:spPr>
          <a:xfrm>
            <a:off x="426562" y="2167353"/>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034E533-67CA-42B1-941B-59B4026B4D60}"/>
              </a:ext>
            </a:extLst>
          </p:cNvPr>
          <p:cNvSpPr txBox="1"/>
          <p:nvPr/>
        </p:nvSpPr>
        <p:spPr>
          <a:xfrm>
            <a:off x="1186205" y="1209656"/>
            <a:ext cx="9660901" cy="5117363"/>
          </a:xfrm>
          <a:prstGeom prst="rect">
            <a:avLst/>
          </a:prstGeom>
          <a:noFill/>
        </p:spPr>
        <p:txBody>
          <a:bodyPr wrap="square">
            <a:spAutoFit/>
          </a:bodyPr>
          <a:lstStyle/>
          <a:p>
            <a:pPr marL="342900" marR="0" lvl="0" indent="-342900" algn="just">
              <a:lnSpc>
                <a:spcPct val="107000"/>
              </a:lnSpc>
              <a:spcBef>
                <a:spcPts val="0"/>
              </a:spcBef>
              <a:spcAft>
                <a:spcPts val="0"/>
              </a:spcAft>
              <a:buFont typeface="+mj-lt"/>
              <a:buAutoNum type="arabicPeriod" startAt="7"/>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 canteen manager, I want the ability to request a delivery to employee’s workstations, ensuring a seamless and timely delivery process. </a:t>
            </a:r>
          </a:p>
          <a:p>
            <a:pPr marL="342900" marR="0" lvl="0" indent="-342900" algn="just">
              <a:lnSpc>
                <a:spcPct val="107000"/>
              </a:lnSpc>
              <a:spcBef>
                <a:spcPts val="0"/>
              </a:spcBef>
              <a:spcAft>
                <a:spcPts val="0"/>
              </a:spcAft>
              <a:buFont typeface="+mj-lt"/>
              <a:buAutoNum type="arabicPeriod" startAt="7"/>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startAt="7"/>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 meal deliverer (delivery boy), I want to receive information about the orders to be delivered and close online customer orders after successful delivery.</a:t>
            </a:r>
          </a:p>
          <a:p>
            <a:pPr marL="342900" marR="0" lvl="0" indent="-342900" algn="just">
              <a:lnSpc>
                <a:spcPct val="107000"/>
              </a:lnSpc>
              <a:spcBef>
                <a:spcPts val="0"/>
              </a:spcBef>
              <a:spcAft>
                <a:spcPts val="0"/>
              </a:spcAft>
              <a:buFont typeface="+mj-lt"/>
              <a:buAutoNum type="arabicPeriod" startAt="7"/>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startAt="7"/>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 As an employee, I want the option to provide feedback on the system, food quality, or delivery process to contribute to continuous improvement. </a:t>
            </a:r>
          </a:p>
          <a:p>
            <a:pPr marL="342900" marR="0" lvl="0" indent="-342900" algn="just">
              <a:lnSpc>
                <a:spcPct val="107000"/>
              </a:lnSpc>
              <a:spcBef>
                <a:spcPts val="0"/>
              </a:spcBef>
              <a:spcAft>
                <a:spcPts val="0"/>
              </a:spcAft>
              <a:buFont typeface="+mj-lt"/>
              <a:buAutoNum type="arabicPeriod" startAt="7"/>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startAt="7"/>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  As an employee, I want to enrol in the salary payment deduction system to ensure a hassle-free payment process for ordered dishes.      </a:t>
            </a:r>
          </a:p>
          <a:p>
            <a:pPr marL="342900" marR="0" lvl="0" indent="-342900" algn="just">
              <a:lnSpc>
                <a:spcPct val="107000"/>
              </a:lnSpc>
              <a:spcBef>
                <a:spcPts val="0"/>
              </a:spcBef>
              <a:spcAft>
                <a:spcPts val="0"/>
              </a:spcAft>
              <a:buFont typeface="+mj-lt"/>
              <a:buAutoNum type="arabicPeriod" startAt="7"/>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startAt="7"/>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 As the payroll department, I want the canteen ordering system to integrate seamlessly with the payroll system for automated deduction at the end of the month.</a:t>
            </a:r>
          </a:p>
          <a:p>
            <a:pPr marL="342900" marR="0" lvl="0" indent="-342900" algn="just">
              <a:lnSpc>
                <a:spcPct val="107000"/>
              </a:lnSpc>
              <a:spcBef>
                <a:spcPts val="0"/>
              </a:spcBef>
              <a:spcAft>
                <a:spcPts val="0"/>
              </a:spcAft>
              <a:buFont typeface="+mj-lt"/>
              <a:buAutoNum type="arabicPeriod" startAt="7"/>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startAt="7"/>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an employee, I want to receive regular notification about menu updates, order confirmations, and delivery status to stay informed.</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Frame 5">
            <a:extLst>
              <a:ext uri="{FF2B5EF4-FFF2-40B4-BE49-F238E27FC236}">
                <a16:creationId xmlns:a16="http://schemas.microsoft.com/office/drawing/2014/main" id="{BACA87EA-F4D1-4661-AFA9-3C274B75DC5B}"/>
              </a:ext>
            </a:extLst>
          </p:cNvPr>
          <p:cNvSpPr/>
          <p:nvPr/>
        </p:nvSpPr>
        <p:spPr>
          <a:xfrm>
            <a:off x="782425" y="820131"/>
            <a:ext cx="10482606" cy="5867703"/>
          </a:xfrm>
          <a:prstGeom prst="frame">
            <a:avLst>
              <a:gd name="adj1" fmla="val 5263"/>
            </a:avLst>
          </a:prstGeom>
          <a:solidFill>
            <a:srgbClr val="FEE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a:extLst>
              <a:ext uri="{FF2B5EF4-FFF2-40B4-BE49-F238E27FC236}">
                <a16:creationId xmlns:a16="http://schemas.microsoft.com/office/drawing/2014/main" id="{52F57A4A-407A-4EAE-838A-323754F9B76D}"/>
              </a:ext>
            </a:extLst>
          </p:cNvPr>
          <p:cNvSpPr txBox="1"/>
          <p:nvPr/>
        </p:nvSpPr>
        <p:spPr>
          <a:xfrm>
            <a:off x="0" y="52948"/>
            <a:ext cx="10206871" cy="630942"/>
          </a:xfrm>
          <a:prstGeom prst="rect">
            <a:avLst/>
          </a:prstGeom>
          <a:noFill/>
        </p:spPr>
        <p:txBody>
          <a:bodyPr wrap="square">
            <a:spAutoFit/>
          </a:bodyPr>
          <a:lstStyle/>
          <a:p>
            <a:r>
              <a:rPr lang="en-GB" sz="3500" b="1" dirty="0">
                <a:effectLst/>
                <a:latin typeface="Calibri" panose="020F0502020204030204" pitchFamily="34" charset="0"/>
                <a:ea typeface="Calibri" panose="020F0502020204030204" pitchFamily="34" charset="0"/>
                <a:cs typeface="Times New Roman" panose="02020603050405020304" pitchFamily="18" charset="0"/>
              </a:rPr>
              <a:t>Translate the To-Be Requirements into User Stories.</a:t>
            </a:r>
            <a:endParaRPr lang="en-US" sz="3500" dirty="0"/>
          </a:p>
        </p:txBody>
      </p:sp>
      <p:sp>
        <p:nvSpPr>
          <p:cNvPr id="22" name="Oval 21">
            <a:extLst>
              <a:ext uri="{FF2B5EF4-FFF2-40B4-BE49-F238E27FC236}">
                <a16:creationId xmlns:a16="http://schemas.microsoft.com/office/drawing/2014/main" id="{ED10172C-12CC-4725-B7A1-3557900108CF}"/>
              </a:ext>
            </a:extLst>
          </p:cNvPr>
          <p:cNvSpPr/>
          <p:nvPr/>
        </p:nvSpPr>
        <p:spPr>
          <a:xfrm>
            <a:off x="11517199" y="205928"/>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4695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FB84D5A7-4954-4ACB-AF53-DF56CE730BDA}"/>
              </a:ext>
            </a:extLst>
          </p:cNvPr>
          <p:cNvSpPr/>
          <p:nvPr/>
        </p:nvSpPr>
        <p:spPr>
          <a:xfrm>
            <a:off x="4059023" y="4986475"/>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0F8595D-45FC-4A7A-BC89-42CF25F5422D}"/>
              </a:ext>
            </a:extLst>
          </p:cNvPr>
          <p:cNvSpPr/>
          <p:nvPr/>
        </p:nvSpPr>
        <p:spPr>
          <a:xfrm>
            <a:off x="5725212" y="3753982"/>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AC566CB-D706-496B-AFCA-ABCD330B52BB}"/>
              </a:ext>
            </a:extLst>
          </p:cNvPr>
          <p:cNvSpPr/>
          <p:nvPr/>
        </p:nvSpPr>
        <p:spPr>
          <a:xfrm>
            <a:off x="11099275" y="3909767"/>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7517EBB-DF73-4F1E-82A6-D2F7AABBBD8E}"/>
              </a:ext>
            </a:extLst>
          </p:cNvPr>
          <p:cNvSpPr/>
          <p:nvPr/>
        </p:nvSpPr>
        <p:spPr>
          <a:xfrm>
            <a:off x="1694467" y="2429880"/>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2454A46-199B-4C27-8258-6A32A728F4C9}"/>
              </a:ext>
            </a:extLst>
          </p:cNvPr>
          <p:cNvSpPr/>
          <p:nvPr/>
        </p:nvSpPr>
        <p:spPr>
          <a:xfrm>
            <a:off x="0" y="23567"/>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015CF59-5E25-469B-95BB-F6A31DF2BB72}"/>
              </a:ext>
            </a:extLst>
          </p:cNvPr>
          <p:cNvSpPr/>
          <p:nvPr/>
        </p:nvSpPr>
        <p:spPr>
          <a:xfrm>
            <a:off x="10516386" y="5896466"/>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075E836-CDE0-4E1C-B473-FE29962074CE}"/>
              </a:ext>
            </a:extLst>
          </p:cNvPr>
          <p:cNvSpPr/>
          <p:nvPr/>
        </p:nvSpPr>
        <p:spPr>
          <a:xfrm>
            <a:off x="9706464" y="1178591"/>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1E98BF5-194C-4E9B-AADA-01F22748B2E8}"/>
              </a:ext>
            </a:extLst>
          </p:cNvPr>
          <p:cNvSpPr/>
          <p:nvPr/>
        </p:nvSpPr>
        <p:spPr>
          <a:xfrm>
            <a:off x="426562" y="2167353"/>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034E533-67CA-42B1-941B-59B4026B4D60}"/>
              </a:ext>
            </a:extLst>
          </p:cNvPr>
          <p:cNvSpPr txBox="1"/>
          <p:nvPr/>
        </p:nvSpPr>
        <p:spPr>
          <a:xfrm>
            <a:off x="1186205" y="1150551"/>
            <a:ext cx="9660902" cy="5721503"/>
          </a:xfrm>
          <a:prstGeom prst="rect">
            <a:avLst/>
          </a:prstGeom>
          <a:noFill/>
        </p:spPr>
        <p:txBody>
          <a:bodyPr wrap="square">
            <a:spAutoFit/>
          </a:bodyPr>
          <a:lstStyle/>
          <a:p>
            <a:pPr marL="342900" marR="0" lvl="0" indent="-342900" algn="just">
              <a:lnSpc>
                <a:spcPct val="107000"/>
              </a:lnSpc>
              <a:spcBef>
                <a:spcPts val="0"/>
              </a:spcBef>
              <a:spcAft>
                <a:spcPts val="0"/>
              </a:spcAft>
              <a:buFont typeface="+mj-lt"/>
              <a:buAutoNum type="arabicPeriod" startAt="13"/>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an employee, I want access to comprehensive training resources to understand the functionalities of the canteen ordering system.</a:t>
            </a:r>
          </a:p>
          <a:p>
            <a:pPr marL="342900" marR="0" lvl="0" indent="-342900" algn="just">
              <a:lnSpc>
                <a:spcPct val="107000"/>
              </a:lnSpc>
              <a:spcBef>
                <a:spcPts val="0"/>
              </a:spcBef>
              <a:spcAft>
                <a:spcPts val="0"/>
              </a:spcAft>
              <a:buFont typeface="+mj-lt"/>
              <a:buAutoNum type="arabicPeriod" startAt="13"/>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startAt="13"/>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an employee, I want accessible user support channels to seek assistance and resolve any issues related to the canteen ordering system. </a:t>
            </a:r>
          </a:p>
          <a:p>
            <a:pPr marL="342900" marR="0" lvl="0" indent="-342900" algn="just">
              <a:lnSpc>
                <a:spcPct val="107000"/>
              </a:lnSpc>
              <a:spcBef>
                <a:spcPts val="0"/>
              </a:spcBef>
              <a:spcAft>
                <a:spcPts val="0"/>
              </a:spcAft>
              <a:buFont typeface="+mj-lt"/>
              <a:buAutoNum type="arabicPeriod" startAt="13"/>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startAt="13"/>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 system administrator, I want robust security measures in a place to protect user data and ensure secure transaction within the platform.</a:t>
            </a:r>
          </a:p>
          <a:p>
            <a:pPr marL="342900" marR="0" lvl="0" indent="-342900" algn="just">
              <a:lnSpc>
                <a:spcPct val="107000"/>
              </a:lnSpc>
              <a:spcBef>
                <a:spcPts val="0"/>
              </a:spcBef>
              <a:spcAft>
                <a:spcPts val="0"/>
              </a:spcAft>
              <a:buFont typeface="+mj-lt"/>
              <a:buAutoNum type="arabicPeriod" startAt="13"/>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startAt="13"/>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 canteen manager, I want the ability to create and update the menu, ensuring it reflects the available dishes and prices for the day.</a:t>
            </a:r>
          </a:p>
          <a:p>
            <a:pPr marL="342900" marR="0" lvl="0" indent="-342900" algn="just">
              <a:lnSpc>
                <a:spcPct val="107000"/>
              </a:lnSpc>
              <a:spcBef>
                <a:spcPts val="0"/>
              </a:spcBef>
              <a:spcAft>
                <a:spcPts val="0"/>
              </a:spcAft>
              <a:buFont typeface="+mj-lt"/>
              <a:buAutoNum type="arabicPeriod" startAt="13"/>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startAt="13"/>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an employee, I want the flexibility to place orders or view menus in offline mode, with the system syncing once back online.</a:t>
            </a:r>
          </a:p>
          <a:p>
            <a:pPr marL="342900" marR="0" lvl="0" indent="-342900" algn="just">
              <a:lnSpc>
                <a:spcPct val="107000"/>
              </a:lnSpc>
              <a:spcBef>
                <a:spcPts val="0"/>
              </a:spcBef>
              <a:spcAft>
                <a:spcPts val="800"/>
              </a:spcAft>
              <a:buFont typeface="+mj-lt"/>
              <a:buAutoNum type="arabicPeriod" startAt="13"/>
            </a:pPr>
            <a:endParaRPr lang="en-GB" b="1"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7000"/>
              </a:lnSpc>
              <a:spcAft>
                <a:spcPts val="800"/>
              </a:spcAft>
              <a:buFont typeface="+mj-lt"/>
              <a:buAutoNum type="arabicPeriod" startAt="13"/>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 canteen manager, I want reporting and analytics feature to generate insights into system performance, popular dishes, and user trends.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startAt="13"/>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Frame 5">
            <a:extLst>
              <a:ext uri="{FF2B5EF4-FFF2-40B4-BE49-F238E27FC236}">
                <a16:creationId xmlns:a16="http://schemas.microsoft.com/office/drawing/2014/main" id="{BACA87EA-F4D1-4661-AFA9-3C274B75DC5B}"/>
              </a:ext>
            </a:extLst>
          </p:cNvPr>
          <p:cNvSpPr/>
          <p:nvPr/>
        </p:nvSpPr>
        <p:spPr>
          <a:xfrm>
            <a:off x="782425" y="820131"/>
            <a:ext cx="10482606" cy="5867703"/>
          </a:xfrm>
          <a:prstGeom prst="frame">
            <a:avLst>
              <a:gd name="adj1" fmla="val 5263"/>
            </a:avLst>
          </a:prstGeom>
          <a:solidFill>
            <a:srgbClr val="FEE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a:extLst>
              <a:ext uri="{FF2B5EF4-FFF2-40B4-BE49-F238E27FC236}">
                <a16:creationId xmlns:a16="http://schemas.microsoft.com/office/drawing/2014/main" id="{52F57A4A-407A-4EAE-838A-323754F9B76D}"/>
              </a:ext>
            </a:extLst>
          </p:cNvPr>
          <p:cNvSpPr txBox="1"/>
          <p:nvPr/>
        </p:nvSpPr>
        <p:spPr>
          <a:xfrm>
            <a:off x="0" y="52948"/>
            <a:ext cx="10206871" cy="630942"/>
          </a:xfrm>
          <a:prstGeom prst="rect">
            <a:avLst/>
          </a:prstGeom>
          <a:noFill/>
        </p:spPr>
        <p:txBody>
          <a:bodyPr wrap="square">
            <a:spAutoFit/>
          </a:bodyPr>
          <a:lstStyle/>
          <a:p>
            <a:r>
              <a:rPr lang="en-GB" sz="3500" b="1" dirty="0">
                <a:effectLst/>
                <a:latin typeface="Calibri" panose="020F0502020204030204" pitchFamily="34" charset="0"/>
                <a:ea typeface="Calibri" panose="020F0502020204030204" pitchFamily="34" charset="0"/>
                <a:cs typeface="Times New Roman" panose="02020603050405020304" pitchFamily="18" charset="0"/>
              </a:rPr>
              <a:t>Translate the To-Be Requirements into User Stories.</a:t>
            </a:r>
            <a:endParaRPr lang="en-US" sz="3500" dirty="0"/>
          </a:p>
        </p:txBody>
      </p:sp>
      <p:sp>
        <p:nvSpPr>
          <p:cNvPr id="22" name="Oval 21">
            <a:extLst>
              <a:ext uri="{FF2B5EF4-FFF2-40B4-BE49-F238E27FC236}">
                <a16:creationId xmlns:a16="http://schemas.microsoft.com/office/drawing/2014/main" id="{ED10172C-12CC-4725-B7A1-3557900108CF}"/>
              </a:ext>
            </a:extLst>
          </p:cNvPr>
          <p:cNvSpPr/>
          <p:nvPr/>
        </p:nvSpPr>
        <p:spPr>
          <a:xfrm>
            <a:off x="11517199" y="205928"/>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9497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Oval 20">
            <a:extLst>
              <a:ext uri="{FF2B5EF4-FFF2-40B4-BE49-F238E27FC236}">
                <a16:creationId xmlns:a16="http://schemas.microsoft.com/office/drawing/2014/main" id="{FB84D5A7-4954-4ACB-AF53-DF56CE730BDA}"/>
              </a:ext>
            </a:extLst>
          </p:cNvPr>
          <p:cNvSpPr/>
          <p:nvPr/>
        </p:nvSpPr>
        <p:spPr>
          <a:xfrm>
            <a:off x="2145382" y="3940833"/>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0F8595D-45FC-4A7A-BC89-42CF25F5422D}"/>
              </a:ext>
            </a:extLst>
          </p:cNvPr>
          <p:cNvSpPr/>
          <p:nvPr/>
        </p:nvSpPr>
        <p:spPr>
          <a:xfrm>
            <a:off x="5595593" y="2302532"/>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AC566CB-D706-496B-AFCA-ABCD330B52BB}"/>
              </a:ext>
            </a:extLst>
          </p:cNvPr>
          <p:cNvSpPr/>
          <p:nvPr/>
        </p:nvSpPr>
        <p:spPr>
          <a:xfrm>
            <a:off x="5817121" y="4761931"/>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7517EBB-DF73-4F1E-82A6-D2F7AABBBD8E}"/>
              </a:ext>
            </a:extLst>
          </p:cNvPr>
          <p:cNvSpPr/>
          <p:nvPr/>
        </p:nvSpPr>
        <p:spPr>
          <a:xfrm>
            <a:off x="1694467" y="2429880"/>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2454A46-199B-4C27-8258-6A32A728F4C9}"/>
              </a:ext>
            </a:extLst>
          </p:cNvPr>
          <p:cNvSpPr/>
          <p:nvPr/>
        </p:nvSpPr>
        <p:spPr>
          <a:xfrm>
            <a:off x="0" y="23567"/>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4015CF59-5E25-469B-95BB-F6A31DF2BB72}"/>
              </a:ext>
            </a:extLst>
          </p:cNvPr>
          <p:cNvSpPr/>
          <p:nvPr/>
        </p:nvSpPr>
        <p:spPr>
          <a:xfrm>
            <a:off x="1144569" y="5283724"/>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075E836-CDE0-4E1C-B473-FE29962074CE}"/>
              </a:ext>
            </a:extLst>
          </p:cNvPr>
          <p:cNvSpPr/>
          <p:nvPr/>
        </p:nvSpPr>
        <p:spPr>
          <a:xfrm>
            <a:off x="9706464" y="1178591"/>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1E98BF5-194C-4E9B-AADA-01F22748B2E8}"/>
              </a:ext>
            </a:extLst>
          </p:cNvPr>
          <p:cNvSpPr/>
          <p:nvPr/>
        </p:nvSpPr>
        <p:spPr>
          <a:xfrm>
            <a:off x="426562" y="2167353"/>
            <a:ext cx="1000813" cy="961534"/>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034E533-67CA-42B1-941B-59B4026B4D60}"/>
              </a:ext>
            </a:extLst>
          </p:cNvPr>
          <p:cNvSpPr txBox="1"/>
          <p:nvPr/>
        </p:nvSpPr>
        <p:spPr>
          <a:xfrm>
            <a:off x="1095078" y="1188258"/>
            <a:ext cx="9956276" cy="2450094"/>
          </a:xfrm>
          <a:prstGeom prst="rect">
            <a:avLst/>
          </a:prstGeom>
          <a:noFill/>
        </p:spPr>
        <p:txBody>
          <a:bodyPr wrap="square">
            <a:spAutoFit/>
          </a:bodyPr>
          <a:lstStyle/>
          <a:p>
            <a:pPr marL="342900" marR="0" lvl="0" indent="-342900" algn="just">
              <a:lnSpc>
                <a:spcPct val="107000"/>
              </a:lnSpc>
              <a:spcBef>
                <a:spcPts val="0"/>
              </a:spcBef>
              <a:spcAft>
                <a:spcPts val="0"/>
              </a:spcAft>
              <a:buFont typeface="+mj-lt"/>
              <a:buAutoNum type="arabicPeriod" startAt="19"/>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 canteen manager, I want effective error handling mechanism in place to address issues in real-time and provide user-friendly error messages.</a:t>
            </a:r>
          </a:p>
          <a:p>
            <a:pPr marL="342900" marR="0" lvl="0" indent="-342900" algn="just">
              <a:lnSpc>
                <a:spcPct val="107000"/>
              </a:lnSpc>
              <a:spcBef>
                <a:spcPts val="0"/>
              </a:spcBef>
              <a:spcAft>
                <a:spcPts val="0"/>
              </a:spcAft>
              <a:buFont typeface="+mj-lt"/>
              <a:buAutoNum type="arabicPeriod" startAt="19"/>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startAt="19"/>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 system administrator, I want to maintain an audit trail for all transactions and actives within the canteen ordering system for accountability and traceability.</a:t>
            </a:r>
          </a:p>
          <a:p>
            <a:pPr marL="342900" marR="0" lvl="0" indent="-342900" algn="just">
              <a:lnSpc>
                <a:spcPct val="107000"/>
              </a:lnSpc>
              <a:spcBef>
                <a:spcPts val="0"/>
              </a:spcBef>
              <a:spcAft>
                <a:spcPts val="0"/>
              </a:spcAft>
              <a:buFont typeface="+mj-lt"/>
              <a:buAutoNum type="arabicPeriod" startAt="19"/>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Font typeface="+mj-lt"/>
              <a:buAutoNum type="arabicPeriod" startAt="19"/>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As a system administrator, I want to ensure the canteen ordering system complies with data protection regulations and other relevant legal requirement.</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Frame 5">
            <a:extLst>
              <a:ext uri="{FF2B5EF4-FFF2-40B4-BE49-F238E27FC236}">
                <a16:creationId xmlns:a16="http://schemas.microsoft.com/office/drawing/2014/main" id="{BACA87EA-F4D1-4661-AFA9-3C274B75DC5B}"/>
              </a:ext>
            </a:extLst>
          </p:cNvPr>
          <p:cNvSpPr/>
          <p:nvPr/>
        </p:nvSpPr>
        <p:spPr>
          <a:xfrm>
            <a:off x="782425" y="820132"/>
            <a:ext cx="10482606" cy="3414618"/>
          </a:xfrm>
          <a:prstGeom prst="frame">
            <a:avLst>
              <a:gd name="adj1" fmla="val 5263"/>
            </a:avLst>
          </a:prstGeom>
          <a:solidFill>
            <a:srgbClr val="FEE6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a:extLst>
              <a:ext uri="{FF2B5EF4-FFF2-40B4-BE49-F238E27FC236}">
                <a16:creationId xmlns:a16="http://schemas.microsoft.com/office/drawing/2014/main" id="{52F57A4A-407A-4EAE-838A-323754F9B76D}"/>
              </a:ext>
            </a:extLst>
          </p:cNvPr>
          <p:cNvSpPr txBox="1"/>
          <p:nvPr/>
        </p:nvSpPr>
        <p:spPr>
          <a:xfrm>
            <a:off x="0" y="52948"/>
            <a:ext cx="10206871" cy="630942"/>
          </a:xfrm>
          <a:prstGeom prst="rect">
            <a:avLst/>
          </a:prstGeom>
          <a:noFill/>
        </p:spPr>
        <p:txBody>
          <a:bodyPr wrap="square">
            <a:spAutoFit/>
          </a:bodyPr>
          <a:lstStyle/>
          <a:p>
            <a:r>
              <a:rPr lang="en-GB" sz="3500" b="1" dirty="0">
                <a:effectLst/>
                <a:latin typeface="Calibri" panose="020F0502020204030204" pitchFamily="34" charset="0"/>
                <a:ea typeface="Calibri" panose="020F0502020204030204" pitchFamily="34" charset="0"/>
                <a:cs typeface="Times New Roman" panose="02020603050405020304" pitchFamily="18" charset="0"/>
              </a:rPr>
              <a:t>Translate the To-Be Requirements into User Stories.</a:t>
            </a:r>
            <a:endParaRPr lang="en-US" sz="3500" dirty="0"/>
          </a:p>
        </p:txBody>
      </p:sp>
      <p:sp>
        <p:nvSpPr>
          <p:cNvPr id="22" name="Oval 21">
            <a:extLst>
              <a:ext uri="{FF2B5EF4-FFF2-40B4-BE49-F238E27FC236}">
                <a16:creationId xmlns:a16="http://schemas.microsoft.com/office/drawing/2014/main" id="{ED10172C-12CC-4725-B7A1-3557900108CF}"/>
              </a:ext>
            </a:extLst>
          </p:cNvPr>
          <p:cNvSpPr/>
          <p:nvPr/>
        </p:nvSpPr>
        <p:spPr>
          <a:xfrm>
            <a:off x="11517199" y="205928"/>
            <a:ext cx="331511" cy="324982"/>
          </a:xfrm>
          <a:prstGeom prst="ellipse">
            <a:avLst/>
          </a:prstGeom>
          <a:solidFill>
            <a:srgbClr val="EFD5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2491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41AF88E3-667F-445D-8442-98255736267F}" vid="{CEA813AB-68A1-4E8C-B064-706AFE54C6E4}"/>
    </a:ext>
  </a:extLst>
</a:theme>
</file>

<file path=docMetadata/LabelInfo.xml><?xml version="1.0" encoding="utf-8"?>
<clbl:labelList xmlns:clbl="http://schemas.microsoft.com/office/2020/mipLabelMetadata">
  <clbl:label id="{26a88b31-878d-453a-a76c-1bbd8d8f2d66}" enabled="1" method="Privileged" siteId="{d84a9014-710d-4a9d-8901-c26a4d2f2467}" removed="0"/>
</clbl:labelList>
</file>

<file path=docProps/app.xml><?xml version="1.0" encoding="utf-8"?>
<Properties xmlns="http://schemas.openxmlformats.org/officeDocument/2006/extended-properties" xmlns:vt="http://schemas.openxmlformats.org/officeDocument/2006/docPropsVTypes">
  <Template>blank</Template>
  <TotalTime>823</TotalTime>
  <Words>1540</Words>
  <Application>Microsoft Office PowerPoint</Application>
  <PresentationFormat>Widescreen</PresentationFormat>
  <Paragraphs>303</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Lato</vt:lpstr>
      <vt:lpstr>Segoe UI</vt:lpstr>
      <vt:lpstr>Symbol</vt:lpstr>
      <vt:lpstr>Times New Roman</vt:lpstr>
      <vt:lpstr>Office Theme</vt:lpstr>
      <vt:lpstr>CANTEEN</vt:lpstr>
      <vt:lpstr>PowerPoint Presentation</vt:lpstr>
      <vt:lpstr>PowerPoint Presentation</vt:lpstr>
      <vt:lpstr>Future Enhancement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Anuoluwapo Rotimi</dc:creator>
  <cp:lastModifiedBy>MMS PHIA Chief Operational Officer</cp:lastModifiedBy>
  <cp:revision>4</cp:revision>
  <dcterms:created xsi:type="dcterms:W3CDTF">2024-02-15T16:23:29Z</dcterms:created>
  <dcterms:modified xsi:type="dcterms:W3CDTF">2025-05-03T03:05:38Z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Public</vt:lpwstr>
  </property>
</Properties>
</file>